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71" r:id="rId4"/>
    <p:sldId id="259" r:id="rId5"/>
    <p:sldId id="260" r:id="rId6"/>
    <p:sldId id="279" r:id="rId7"/>
    <p:sldId id="261" r:id="rId8"/>
    <p:sldId id="276" r:id="rId9"/>
    <p:sldId id="278" r:id="rId10"/>
    <p:sldId id="268" r:id="rId11"/>
    <p:sldId id="257" r:id="rId12"/>
    <p:sldId id="272" r:id="rId13"/>
    <p:sldId id="274" r:id="rId14"/>
    <p:sldId id="275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257A0-5AE3-419B-9075-224093B6D73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1DFA9-2CBF-4529-B541-F4B26AC33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67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A1DFA9-2CBF-4529-B541-F4B26AC335B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044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13.201.15.89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195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982215" cy="16927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365D"/>
                </a:solidFill>
              </a:defRPr>
            </a:pPr>
            <a:r>
              <a:rPr dirty="0"/>
              <a:t>AI-DRIVEN</a:t>
            </a:r>
            <a:br>
              <a:rPr dirty="0"/>
            </a:br>
            <a:r>
              <a:rPr dirty="0"/>
              <a:t>ESTIMATION</a:t>
            </a:r>
            <a:r>
              <a:rPr lang="en-US" dirty="0"/>
              <a:t> AUTOMATION</a:t>
            </a:r>
            <a:endParaRPr dirty="0"/>
          </a:p>
          <a:p>
            <a:pPr>
              <a:defRPr sz="2400" b="1">
                <a:solidFill>
                  <a:srgbClr val="1F4E79"/>
                </a:solidFill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DRAWINGS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AI / VISION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9" y="4453128"/>
            <a:ext cx="502921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2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ENGINEERING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4453128"/>
            <a:ext cx="50292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69680" y="3977639"/>
            <a:ext cx="2103120" cy="96012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QUANTITIES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1. Construction Estimation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Major construction materials / work categories identified with the Estimation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1. Concrete</a:t>
            </a:r>
            <a:r>
              <a:rPr lang="en-US" dirty="0"/>
              <a:t> &amp; Shuttering</a:t>
            </a:r>
            <a:endParaRPr dirty="0"/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 &amp; Slab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024128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rPr dirty="0"/>
              <a:t>2. Steel</a:t>
            </a:r>
          </a:p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HIGH PRIORITY  |  </a:t>
            </a:r>
            <a:r>
              <a:rPr lang="en-US" dirty="0"/>
              <a:t>C</a:t>
            </a:r>
            <a:r>
              <a:rPr dirty="0"/>
              <a:t>urrent develop</a:t>
            </a:r>
            <a:r>
              <a:rPr lang="en-US" dirty="0"/>
              <a:t>ment Focus | Beam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3. Blockwork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Wall / block quantities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4. Tiles &amp; Granite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Floor / wall finishes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5. Plastering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Internal / external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596896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6. Painting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Paintable surfaces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7. Waterproofing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Wet areas / terraces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3840480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8. Doors &amp; Windows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Openings / glazing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840480"/>
            <a:ext cx="3456432" cy="1024128"/>
          </a:xfrm>
          <a:prstGeom prst="roundRect">
            <a:avLst/>
          </a:prstGeom>
          <a:solidFill>
            <a:srgbClr val="EBF2F9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9. Earthwork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Excavation / filling quantities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10. Landscaping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Landscape / external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11. Plumbing &amp; Electrical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Plumbing / electrical 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5084064"/>
            <a:ext cx="3456432" cy="1024128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82296" rIns="118872" rtlCol="0" anchor="ctr"/>
          <a:lstStyle/>
          <a:p>
            <a:pPr algn="ctr">
              <a:defRPr sz="1550" b="1">
                <a:solidFill>
                  <a:srgbClr val="1F4E79"/>
                </a:solidFill>
              </a:defRPr>
            </a:pPr>
            <a:r>
              <a:t>12. MS Grill Work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2D3741"/>
                </a:solidFill>
              </a:defRPr>
            </a:pPr>
            <a:r>
              <a:t>Grill / metal fabrication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91072"/>
            <a:ext cx="348044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8365D"/>
                </a:solidFill>
              </a:defRPr>
            </a:pPr>
            <a:r>
              <a:rPr dirty="0"/>
              <a:t>Highlighted focus areas:  </a:t>
            </a:r>
            <a:r>
              <a:rPr lang="en-US" dirty="0"/>
              <a:t>High Priority - Steel</a:t>
            </a:r>
            <a:r>
              <a:rPr dirty="0"/>
              <a:t> </a:t>
            </a:r>
            <a:r>
              <a:rPr lang="en-US" dirty="0"/>
              <a:t>&amp; Concrete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t>2. Major Structural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326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t>The structural estimation framework is organized around these core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1. Beam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S</a:t>
            </a:r>
            <a:r>
              <a:rPr lang="en-US" dirty="0"/>
              <a:t>huttering</a:t>
            </a:r>
            <a:r>
              <a:rPr dirty="0"/>
              <a:t>✓</a:t>
            </a:r>
            <a:br>
              <a:rPr lang="en-US" dirty="0"/>
            </a:br>
            <a:r>
              <a:rPr lang="en-US" dirty="0"/>
              <a:t>Steel</a:t>
            </a:r>
            <a:r>
              <a:rPr lang="en-IN" dirty="0"/>
              <a:t>✓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353312"/>
            <a:ext cx="3456432" cy="1691640"/>
          </a:xfrm>
          <a:prstGeom prst="roundRect">
            <a:avLst/>
          </a:prstGeom>
          <a:solidFill>
            <a:srgbClr val="18365D"/>
          </a:solidFill>
          <a:ln w="1524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2. Slab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dirty="0"/>
              <a:t>Concrete ✓</a:t>
            </a:r>
            <a:endParaRPr lang="en-US" dirty="0"/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Shuttering ✓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rPr lang="en-IN" dirty="0"/>
              <a:t>Steel</a:t>
            </a:r>
            <a:endParaRPr dirty="0"/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</a:defRPr>
            </a:pPr>
            <a:r>
              <a:rPr dirty="0"/>
              <a:t>Current development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5331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3.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4.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5. Shear Wall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456432"/>
            <a:ext cx="3456432" cy="169164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6. Retaining Wall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26480"/>
            <a:ext cx="35885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65D"/>
                </a:solidFill>
              </a:defRPr>
            </a:pPr>
            <a:r>
              <a:rPr dirty="0"/>
              <a:t>Highlighted focus</a:t>
            </a:r>
            <a:r>
              <a:rPr lang="en-US" dirty="0"/>
              <a:t> areas</a:t>
            </a:r>
            <a:r>
              <a:rPr dirty="0"/>
              <a:t>:  </a:t>
            </a:r>
            <a:r>
              <a:rPr lang="en-US" dirty="0"/>
              <a:t>High Priority - </a:t>
            </a:r>
            <a:r>
              <a:rPr dirty="0"/>
              <a:t>Beam  </a:t>
            </a:r>
            <a:r>
              <a:rPr lang="en-US" dirty="0"/>
              <a:t>&amp;</a:t>
            </a:r>
            <a:r>
              <a:rPr dirty="0"/>
              <a:t>  Slab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6711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3. What Does Construction Estimation </a:t>
            </a:r>
            <a:r>
              <a:rPr lang="en-US" dirty="0"/>
              <a:t>Involve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874"/>
                </a:solidFill>
              </a:defRPr>
            </a:pPr>
            <a:r>
              <a:rPr dirty="0"/>
              <a:t>From engineering information to measurable, reviewable quantities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Drawings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S</a:t>
            </a:r>
            <a:r>
              <a:rPr dirty="0"/>
              <a:t>chedules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N</a:t>
            </a:r>
            <a:r>
              <a:rPr dirty="0"/>
              <a:t>otes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R</a:t>
            </a:r>
            <a:r>
              <a:rPr dirty="0"/>
              <a:t>evisions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INTERPRET &amp; MEASURE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Geometry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D</a:t>
            </a:r>
            <a:r>
              <a:rPr dirty="0"/>
              <a:t>imensions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reas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L</a:t>
            </a:r>
            <a:r>
              <a:rPr dirty="0"/>
              <a:t>engths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C</a:t>
            </a:r>
            <a:r>
              <a:rPr dirty="0"/>
              <a:t>ounts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6344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6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CALCULATE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 </a:t>
            </a:r>
            <a:r>
              <a:rPr dirty="0"/>
              <a:t>Engineering rules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F</a:t>
            </a:r>
            <a:r>
              <a:rPr dirty="0"/>
              <a:t>ormulas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P</a:t>
            </a:r>
            <a:r>
              <a:rPr dirty="0"/>
              <a:t>roject practices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43800" y="1828800"/>
            <a:ext cx="1874519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VALIDATE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checks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A</a:t>
            </a:r>
            <a:r>
              <a:rPr dirty="0"/>
              <a:t>nomalies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lang="en-US" dirty="0"/>
              <a:t>E</a:t>
            </a:r>
            <a:r>
              <a:rPr dirty="0"/>
              <a:t>stimator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0" y="2743200"/>
            <a:ext cx="502920" cy="0"/>
          </a:xfrm>
          <a:prstGeom prst="line">
            <a:avLst/>
          </a:prstGeom>
          <a:ln w="3302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21240" y="1828800"/>
            <a:ext cx="1874519" cy="1828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OUTPUT</a:t>
            </a:r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lang="en-IN" dirty="0"/>
              <a:t>• </a:t>
            </a:r>
            <a:r>
              <a:rPr dirty="0"/>
              <a:t>Quantity take-off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BOQ-ready data </a:t>
            </a:r>
            <a:endParaRPr lang="en-US" dirty="0"/>
          </a:p>
          <a:p>
            <a:pPr>
              <a:spcBef>
                <a:spcPts val="500"/>
              </a:spcBef>
              <a:defRPr sz="1300">
                <a:solidFill>
                  <a:srgbClr val="2D3741"/>
                </a:solidFill>
              </a:defRPr>
            </a:pPr>
            <a:r>
              <a:rPr dirty="0"/>
              <a:t>•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882" y="4709160"/>
            <a:ext cx="10505761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8365D"/>
                </a:solidFill>
              </a:defRPr>
            </a:pPr>
            <a:r>
              <a:rPr dirty="0"/>
              <a:t>AI</a:t>
            </a:r>
            <a:r>
              <a:rPr lang="en-US" dirty="0"/>
              <a:t> Model aims to</a:t>
            </a:r>
            <a:r>
              <a:rPr dirty="0"/>
              <a:t> reduces repetitive effort — engineering logic remains central to quantity calculation.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43052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4. Current AI Development</a:t>
            </a:r>
            <a:r>
              <a:rPr lang="en-US" dirty="0"/>
              <a:t> Focus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9436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CONCRETE — BEAM &amp; SLAB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Beam concrete</a:t>
            </a:r>
            <a:br>
              <a:rPr dirty="0"/>
            </a:br>
            <a:r>
              <a:rPr dirty="0"/>
              <a:t>• Beam shuttering</a:t>
            </a:r>
            <a:br>
              <a:rPr dirty="0"/>
            </a:br>
            <a:r>
              <a:rPr dirty="0"/>
              <a:t>• Slab concrete</a:t>
            </a:r>
            <a:br>
              <a:rPr dirty="0"/>
            </a:br>
            <a:r>
              <a:rPr dirty="0"/>
              <a:t>• Slab shuttering</a:t>
            </a:r>
            <a:br>
              <a:rPr dirty="0"/>
            </a:br>
            <a:r>
              <a:rPr dirty="0"/>
              <a:t>• Deterministic calculation</a:t>
            </a:r>
            <a:br>
              <a:rPr dirty="0"/>
            </a:br>
            <a:r>
              <a:rPr dirty="0"/>
              <a:t>• LLM assistance for ambiguous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7652"/>
            <a:ext cx="5303520" cy="297180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rPr dirty="0"/>
              <a:t>STEEL — BEAM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dirty="0"/>
              <a:t>• Reinforcement drawing understanding</a:t>
            </a:r>
            <a:br>
              <a:rPr dirty="0"/>
            </a:br>
            <a:r>
              <a:rPr dirty="0"/>
              <a:t>• Beam matching / ownership</a:t>
            </a:r>
            <a:br>
              <a:rPr dirty="0"/>
            </a:br>
            <a:r>
              <a:rPr dirty="0"/>
              <a:t>• Reinforcement parsing</a:t>
            </a:r>
            <a:br>
              <a:rPr dirty="0"/>
            </a:br>
            <a:r>
              <a:rPr dirty="0"/>
              <a:t>• Hybrid CAD + Vision</a:t>
            </a:r>
            <a:br>
              <a:rPr dirty="0"/>
            </a:br>
            <a:r>
              <a:rPr dirty="0"/>
              <a:t>• Deterministic engineering authority</a:t>
            </a:r>
            <a:br>
              <a:rPr lang="en-US" dirty="0"/>
            </a:br>
            <a:r>
              <a:rPr lang="en-IN" dirty="0"/>
              <a:t>• Diameter wise Steel Calculations</a:t>
            </a:r>
          </a:p>
          <a:p>
            <a:pPr>
              <a:spcBef>
                <a:spcPts val="500"/>
              </a:spcBef>
              <a:defRPr sz="1700">
                <a:solidFill>
                  <a:srgbClr val="2D3741"/>
                </a:solidFill>
              </a:defRPr>
            </a:pPr>
            <a:r>
              <a:rPr lang="en-IN" dirty="0"/>
              <a:t>• Steel quantity + BBS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686800" cy="4754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/>
            <a:r>
              <a:rPr sz="2450" b="1">
                <a:solidFill>
                  <a:srgbClr val="1F4169"/>
                </a:solidFill>
                <a:latin typeface="Aptos"/>
              </a:rPr>
              <a:t>5. Concrete Beam &amp; Slab — Estimation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35440" y="265176"/>
            <a:ext cx="2350008" cy="804672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56616"/>
            <a:ext cx="2075688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1">
                <a:solidFill>
                  <a:srgbClr val="1F4169"/>
                </a:solidFill>
                <a:latin typeface="Aptos"/>
              </a:rPr>
              <a:t>Concrete Beam &amp; Slab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20854"/>
            <a:ext cx="2167128" cy="193899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080" b="1" u="sng" dirty="0">
                <a:solidFill>
                  <a:srgbClr val="0041DC"/>
                </a:solidFill>
                <a:latin typeface="Aptos"/>
              </a:rPr>
              <a:t>http://13.201.15.89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161288"/>
            <a:ext cx="2944368" cy="502920"/>
          </a:xfrm>
          <a:prstGeom prst="roundRect">
            <a:avLst/>
          </a:prstGeom>
          <a:solidFill>
            <a:srgbClr val="1F4169"/>
          </a:solidFill>
          <a:ln w="14604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225296"/>
            <a:ext cx="2724912" cy="34747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DXF FRAMING DRAWING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673352"/>
            <a:ext cx="2615184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50" b="0">
                <a:solidFill>
                  <a:srgbClr val="566576"/>
                </a:solidFill>
                <a:latin typeface="Aptos"/>
              </a:rPr>
              <a:t>Drawing input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246120" y="1664208"/>
            <a:ext cx="2843784" cy="34747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1664208"/>
            <a:ext cx="2852928" cy="34747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" y="1984248"/>
            <a:ext cx="5074920" cy="102412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093976"/>
            <a:ext cx="4736592" cy="22860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DETERMINISTIC CAD / GEOMETRY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14016"/>
            <a:ext cx="4681728" cy="38404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0">
                <a:solidFill>
                  <a:srgbClr val="26323F"/>
                </a:solidFill>
                <a:latin typeface="Aptos"/>
              </a:rPr>
              <a:t>Member detection  •  Geometry  •  Dimensions  •  Areas / lengths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1984248"/>
            <a:ext cx="5074920" cy="102412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103632"/>
            <a:ext cx="4663440" cy="2092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180" b="1" dirty="0">
                <a:solidFill>
                  <a:srgbClr val="1F4169"/>
                </a:solidFill>
                <a:latin typeface="Aptos"/>
              </a:rPr>
              <a:t>LLM ASSISTANCE —  WHEN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2386584"/>
            <a:ext cx="4626864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0">
                <a:solidFill>
                  <a:srgbClr val="26323F"/>
                </a:solidFill>
                <a:latin typeface="Aptos"/>
              </a:rPr>
              <a:t>Missing / ambiguous inputs  →  slab thickness  •  tags  •  beam dimensions  •  bounded regions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00400"/>
            <a:ext cx="5074920" cy="612648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273552"/>
            <a:ext cx="4709160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1">
                <a:solidFill>
                  <a:srgbClr val="1F4169"/>
                </a:solidFill>
                <a:latin typeface="Aptos"/>
              </a:rPr>
              <a:t>STANDARD DRAWINGS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74720"/>
            <a:ext cx="47091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80" b="0">
                <a:solidFill>
                  <a:srgbClr val="566576"/>
                </a:solidFill>
                <a:latin typeface="Aptos"/>
              </a:rPr>
              <a:t>Processed deterministically from the DXF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3200400"/>
            <a:ext cx="5074920" cy="612648"/>
          </a:xfrm>
          <a:prstGeom prst="roundRect">
            <a:avLst/>
          </a:prstGeom>
          <a:solidFill>
            <a:srgbClr val="FFF8E1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11696" y="3273552"/>
            <a:ext cx="4663440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19" b="1">
                <a:solidFill>
                  <a:srgbClr val="A67714"/>
                </a:solidFill>
                <a:latin typeface="Aptos"/>
              </a:rPr>
              <a:t>AMBIGUOUS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3474720"/>
            <a:ext cx="466344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0" b="0">
                <a:solidFill>
                  <a:srgbClr val="26323F"/>
                </a:solidFill>
                <a:latin typeface="Aptos"/>
              </a:rPr>
              <a:t>LLM assists only where drawing information is unclear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36392" y="3813048"/>
            <a:ext cx="2953512" cy="28346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89904" y="3813048"/>
            <a:ext cx="2962656" cy="28346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407408" y="4005072"/>
            <a:ext cx="3364992" cy="585216"/>
          </a:xfrm>
          <a:prstGeom prst="roundRect">
            <a:avLst/>
          </a:prstGeom>
          <a:solidFill>
            <a:srgbClr val="1F4169"/>
          </a:solidFill>
          <a:ln w="14604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4069080"/>
            <a:ext cx="3072384" cy="21031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ENGINEERING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288536"/>
            <a:ext cx="3072384" cy="16459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30" b="0">
                <a:solidFill>
                  <a:srgbClr val="FFFFFF"/>
                </a:solidFill>
                <a:latin typeface="Aptos"/>
              </a:rPr>
              <a:t>Combine geometry + resolved inputs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9904" y="4590288"/>
            <a:ext cx="0" cy="192024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794760" y="4754880"/>
            <a:ext cx="4590288" cy="685800"/>
          </a:xfrm>
          <a:prstGeom prst="roundRect">
            <a:avLst/>
          </a:prstGeom>
          <a:solidFill>
            <a:srgbClr val="2F537D"/>
          </a:solidFill>
          <a:ln w="14604">
            <a:solidFill>
              <a:srgbClr val="2F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77639" y="4837176"/>
            <a:ext cx="4224528" cy="21945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ptos"/>
              </a:rPr>
              <a:t>DETERMINISTIC ENGINEERING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084064"/>
            <a:ext cx="4224528" cy="18288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69" b="0">
                <a:solidFill>
                  <a:srgbClr val="FFFFFF"/>
                </a:solidFill>
                <a:latin typeface="Aptos"/>
              </a:rPr>
              <a:t>Rules • formulas • quantity calculations • validation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057400" y="5449824"/>
            <a:ext cx="4032504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89904" y="5449824"/>
            <a:ext cx="0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89904" y="5449824"/>
            <a:ext cx="4032504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4360" y="5650992"/>
            <a:ext cx="2926080" cy="612648"/>
          </a:xfrm>
          <a:prstGeom prst="roundRect">
            <a:avLst/>
          </a:prstGeom>
          <a:solidFill>
            <a:srgbClr val="EBF7ED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733288"/>
            <a:ext cx="26517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26702F"/>
                </a:solidFill>
                <a:latin typeface="Aptos"/>
              </a:rPr>
              <a:t>BEAM CONCRETE + SHUTTERING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34456"/>
            <a:ext cx="2651760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Concrete volume • shuttering area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5650992"/>
            <a:ext cx="2926080" cy="612648"/>
          </a:xfrm>
          <a:prstGeom prst="roundRect">
            <a:avLst/>
          </a:prstGeom>
          <a:solidFill>
            <a:srgbClr val="EBF2F9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0" y="5733288"/>
            <a:ext cx="26517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1F4169"/>
                </a:solidFill>
                <a:latin typeface="Aptos"/>
              </a:rPr>
              <a:t>SLAB CONCRETE + SHUTTERING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934456"/>
            <a:ext cx="2651760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Concrete volume • shuttering area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5650992"/>
            <a:ext cx="2953512" cy="612648"/>
          </a:xfrm>
          <a:prstGeom prst="roundRect">
            <a:avLst/>
          </a:prstGeom>
          <a:solidFill>
            <a:srgbClr val="EBF7ED"/>
          </a:solidFill>
          <a:ln w="14604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78240" y="5733288"/>
            <a:ext cx="2679192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969" b="1">
                <a:solidFill>
                  <a:srgbClr val="26702F"/>
                </a:solidFill>
                <a:latin typeface="Aptos"/>
              </a:rPr>
              <a:t>EXCEL QUANTITY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934456"/>
            <a:ext cx="2679192" cy="1920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10" b="0">
                <a:solidFill>
                  <a:srgbClr val="26323F"/>
                </a:solidFill>
                <a:latin typeface="Aptos"/>
              </a:rPr>
              <a:t>Review sheet • flagged items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/>
            <a:r>
              <a:rPr sz="890" b="1">
                <a:solidFill>
                  <a:srgbClr val="1F4169"/>
                </a:solidFill>
                <a:latin typeface="Aptos"/>
              </a:rPr>
              <a:t>Design principle:  Standard inputs → deterministic calculation  |  Ambiguous inputs → LLM assistance → deterministic calculation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6711696"/>
            <a:ext cx="1847088" cy="914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r"/>
            <a:r>
              <a:rPr sz="650" b="0">
                <a:solidFill>
                  <a:srgbClr val="566576"/>
                </a:solidFill>
                <a:latin typeface="Aptos"/>
              </a:rPr>
              <a:t>AI Construction Estimation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dirty="0"/>
              <a:t>5. Concrete Beam &amp; Slab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1173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6874"/>
                </a:solidFill>
              </a:defRPr>
            </a:pPr>
            <a:r>
              <a:rPr lang="en-US" sz="1600" b="1" dirty="0"/>
              <a:t>Concrete Beam &amp; Slab Estimation Model Link - </a:t>
            </a:r>
            <a:r>
              <a:rPr lang="en-IN" sz="1600" b="1" u="sng" dirty="0">
                <a:solidFill>
                  <a:srgbClr val="5C6874"/>
                </a:solidFill>
                <a:hlinkClick r:id="rId2"/>
              </a:rPr>
              <a:t>http://13.201.15.89</a:t>
            </a:r>
            <a:endParaRPr sz="16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DRAWING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DXF framing drawing</a:t>
            </a:r>
            <a:br/>
            <a:r>
              <a:t>Member detection</a:t>
            </a:r>
            <a:br/>
            <a:r>
              <a:t>Geometry / dimensions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404872"/>
            <a:ext cx="59436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ENGINEERING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Concrete volume</a:t>
            </a:r>
            <a:br/>
            <a:r>
              <a:t>Shuttering area</a:t>
            </a:r>
            <a:br/>
            <a:r>
              <a:t>Rules &amp; calculations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80" y="2404872"/>
            <a:ext cx="594360" cy="0"/>
          </a:xfrm>
          <a:prstGeom prst="line">
            <a:avLst/>
          </a:prstGeom>
          <a:ln w="3556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75320" y="1417320"/>
            <a:ext cx="3520440" cy="19659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800" b="1">
                <a:solidFill>
                  <a:srgbClr val="1F4E79"/>
                </a:solidFill>
              </a:defRPr>
            </a:pPr>
            <a:r>
              <a:t>OUTPUT</a:t>
            </a:r>
          </a:p>
          <a:p>
            <a:pPr>
              <a:spcBef>
                <a:spcPts val="500"/>
              </a:spcBef>
              <a:defRPr sz="1600">
                <a:solidFill>
                  <a:srgbClr val="2D3741"/>
                </a:solidFill>
              </a:defRPr>
            </a:pPr>
            <a:r>
              <a:t>Excel quantity report</a:t>
            </a:r>
            <a:br/>
            <a:r>
              <a:t>Review sheet</a:t>
            </a:r>
            <a:br/>
            <a:r>
              <a:t>Flagged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332720" cy="1682512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Standard drawings can be processed deterministically.</a:t>
            </a:r>
          </a:p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LLM assistance is used only when information such as slab thickness, tags, beam dimensions or bounded regions is missing / ambiguous.</a:t>
            </a:r>
          </a:p>
          <a:p>
            <a:pPr algn="just"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Estimation Team validation demonstrated meaningful productivity improvement; quantity accuracy still requires further improvement.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t>AI Construction Estimation  |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6. Concrete POC -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79976" y="1389888"/>
            <a:ext cx="3429000" cy="3081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65592" y="1431036"/>
            <a:ext cx="3429000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Current Model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Time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389888"/>
            <a:ext cx="3429000" cy="621792"/>
          </a:xfrm>
          <a:prstGeom prst="round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02752" y="15087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508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9952" y="1463040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WHAT THIS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1728216"/>
            <a:ext cx="2651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084831"/>
            <a:ext cx="3063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Comparison with manual estimation (Estimation Team)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2468880"/>
            <a:ext cx="98755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248716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 dirty="0">
                <a:solidFill>
                  <a:srgbClr val="1F4169"/>
                </a:solidFill>
                <a:latin typeface="Aptos"/>
              </a:rPr>
              <a:t>Work Item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46504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73936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Concrete
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71216" y="2468880"/>
            <a:ext cx="1124712" cy="50292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98648" y="248716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1">
                <a:solidFill>
                  <a:srgbClr val="1F4169"/>
                </a:solidFill>
                <a:latin typeface="Aptos"/>
              </a:rPr>
              <a:t>Shuttering
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297180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299008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Slab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46504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73936" y="299008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69%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297180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98648" y="299008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73%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3474720"/>
            <a:ext cx="987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3493008"/>
            <a:ext cx="9326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Beam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46504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73936" y="349300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78%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71216" y="3474720"/>
            <a:ext cx="11247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98648" y="3493008"/>
            <a:ext cx="1069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1F4169"/>
                </a:solidFill>
                <a:latin typeface="Aptos"/>
              </a:rPr>
              <a:t>81%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2084831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66576"/>
                </a:solidFill>
                <a:latin typeface="Aptos"/>
              </a:rPr>
              <a:t>Reduction in time required for quantity take-off
(compared to manual method)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44568" y="2697480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16168" y="2697480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90288" y="2715768"/>
            <a:ext cx="1280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Slab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2743200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6702F"/>
                </a:solidFill>
                <a:latin typeface="Aptos"/>
              </a:rPr>
              <a:t>29%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3044952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4568" y="3364992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16168" y="3364992"/>
            <a:ext cx="1691640" cy="621792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90288" y="3383280"/>
            <a:ext cx="128016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6323F"/>
                </a:solidFill>
                <a:latin typeface="Aptos"/>
              </a:rPr>
              <a:t>Beam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3410712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6702F"/>
                </a:solidFill>
                <a:latin typeface="Aptos"/>
              </a:rPr>
              <a:t>67%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1888" y="3712464"/>
            <a:ext cx="1600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26702F"/>
                </a:solidFill>
                <a:latin typeface="Aptos"/>
              </a:rPr>
              <a:t>time saving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0183" y="2057400"/>
            <a:ext cx="3063240" cy="768096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58200" y="2130552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26702F"/>
                </a:solidFill>
                <a:latin typeface="Aptos"/>
              </a:rPr>
              <a:t>PROCESSING EFFORT REDUCED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2386584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Automation delivers clear time savings for quantity take-off.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0183" y="2953512"/>
            <a:ext cx="3063240" cy="768096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58200" y="3026664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A61B2B"/>
                </a:solidFill>
                <a:latin typeface="Aptos"/>
              </a:rPr>
              <a:t>ACCURACY STILL REQUIRES IMPROVEMENT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3282696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Current quantities are not yet accurate enough for direct use.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30183" y="3849624"/>
            <a:ext cx="3063240" cy="768096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58200" y="3922776"/>
            <a:ext cx="257860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40" b="1">
                <a:solidFill>
                  <a:srgbClr val="1F4169"/>
                </a:solidFill>
                <a:latin typeface="Aptos"/>
              </a:rPr>
              <a:t>MANUAL VERIFICATION IS CURRENTLY REQUIRED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4178808"/>
            <a:ext cx="25786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26323F"/>
                </a:solidFill>
                <a:latin typeface="Aptos"/>
              </a:rPr>
              <a:t>Results need to be reviewed and corrected by the Estimation Team.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051" y="5614416"/>
            <a:ext cx="11000232" cy="64008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31219" y="5705856"/>
            <a:ext cx="17373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POC CONCLUSION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96595" y="5733288"/>
            <a:ext cx="18288" cy="393192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943483" y="5717563"/>
            <a:ext cx="84124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dirty="0">
                <a:solidFill>
                  <a:srgbClr val="1F4169"/>
                </a:solidFill>
                <a:latin typeface="Aptos"/>
              </a:rPr>
              <a:t>Automation demonstrated </a:t>
            </a:r>
            <a:r>
              <a:rPr lang="en-US" sz="1050" b="1" dirty="0">
                <a:solidFill>
                  <a:srgbClr val="1F4169"/>
                </a:solidFill>
                <a:latin typeface="Aptos"/>
              </a:rPr>
              <a:t>considerable</a:t>
            </a:r>
            <a:r>
              <a:rPr sz="1050" b="1" dirty="0">
                <a:solidFill>
                  <a:srgbClr val="1F4169"/>
                </a:solidFill>
                <a:latin typeface="Aptos"/>
              </a:rPr>
              <a:t> time savings; however, current accuracy requires further development and manual verification before production use.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6565392"/>
            <a:ext cx="2286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30" b="0">
                <a:solidFill>
                  <a:srgbClr val="566576"/>
                </a:solidFill>
                <a:latin typeface="Aptos"/>
              </a:rPr>
              <a:t>AI Construction Estimation  | 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46888"/>
            <a:ext cx="8686800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1F4169"/>
                </a:solidFill>
                <a:latin typeface="Aptos"/>
              </a:rPr>
              <a:t>7. Steel Beam — Hybrid Estimation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2028" y="1060850"/>
            <a:ext cx="2761488" cy="475488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61756" y="1106570"/>
            <a:ext cx="2542032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DXF DRAWING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70116" y="1549907"/>
            <a:ext cx="2962656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9048" y="1559051"/>
            <a:ext cx="2953512" cy="32004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4663440" cy="23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 dirty="0">
                <a:solidFill>
                  <a:srgbClr val="1F4169"/>
                </a:solidFill>
                <a:latin typeface="Aptos"/>
              </a:rPr>
              <a:t>DETERMINISTIC CAD GEOMETRY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3558"/>
            <a:ext cx="4572000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CAD geometry  •  Beam </a:t>
            </a:r>
            <a:r>
              <a:rPr sz="1000" b="0" dirty="0">
                <a:solidFill>
                  <a:srgbClr val="26323F"/>
                </a:solidFill>
                <a:latin typeface="Aptos"/>
              </a:rPr>
              <a:t>geometry</a:t>
            </a:r>
            <a:r>
              <a:rPr sz="900" b="0" dirty="0">
                <a:solidFill>
                  <a:srgbClr val="26323F"/>
                </a:solidFill>
                <a:latin typeface="Aptos"/>
              </a:rPr>
              <a:t>  •  Span / engineering 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892807"/>
            <a:ext cx="4992624" cy="9144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1993392"/>
            <a:ext cx="4626864" cy="23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20" b="1">
                <a:solidFill>
                  <a:srgbClr val="1F4169"/>
                </a:solidFill>
                <a:latin typeface="Aptos"/>
              </a:rPr>
              <a:t>RENDER / VISION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304288"/>
            <a:ext cx="4553712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00" b="0" dirty="0">
                <a:solidFill>
                  <a:srgbClr val="26323F"/>
                </a:solidFill>
                <a:latin typeface="Aptos"/>
              </a:rPr>
              <a:t>Context + Detail View  →  Claude Vision  →  Semantic Reinforcement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30" b="1" dirty="0">
                <a:solidFill>
                  <a:srgbClr val="1F4169"/>
                </a:solidFill>
                <a:latin typeface="Aptos"/>
              </a:rPr>
              <a:t>ENGINEERING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60526"/>
            <a:ext cx="4626864" cy="1723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60" b="0" dirty="0">
                <a:solidFill>
                  <a:srgbClr val="566576"/>
                </a:solidFill>
                <a:latin typeface="Aptos"/>
              </a:rPr>
              <a:t>Geometry • </a:t>
            </a:r>
            <a:r>
              <a:rPr sz="1000" b="0" dirty="0">
                <a:solidFill>
                  <a:srgbClr val="566576"/>
                </a:solidFill>
                <a:latin typeface="Aptos"/>
              </a:rPr>
              <a:t>cover</a:t>
            </a:r>
            <a:r>
              <a:rPr sz="860" b="0" dirty="0">
                <a:solidFill>
                  <a:srgbClr val="566576"/>
                </a:solidFill>
                <a:latin typeface="Aptos"/>
              </a:rPr>
              <a:t> • spacers • lengths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971800"/>
            <a:ext cx="4992624" cy="6126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3042520"/>
            <a:ext cx="4626864" cy="18774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930" b="1" dirty="0">
                <a:solidFill>
                  <a:srgbClr val="1F4169"/>
                </a:solidFill>
                <a:latin typeface="Aptos"/>
              </a:rPr>
              <a:t>VISION </a:t>
            </a:r>
            <a:r>
              <a:rPr sz="1100" b="1" dirty="0">
                <a:solidFill>
                  <a:srgbClr val="1F4169"/>
                </a:solidFill>
                <a:latin typeface="Aptos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236976"/>
            <a:ext cx="4626864" cy="21945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60" b="0" dirty="0">
                <a:solidFill>
                  <a:srgbClr val="566576"/>
                </a:solidFill>
                <a:latin typeface="Aptos"/>
              </a:rPr>
              <a:t>Bar count • diameter • main/extra • stirrups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36392" y="3584448"/>
            <a:ext cx="2962656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99048" y="3584448"/>
            <a:ext cx="2953512" cy="27432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25696" y="3767328"/>
            <a:ext cx="3346704" cy="576072"/>
          </a:xfrm>
          <a:prstGeom prst="roundRect">
            <a:avLst/>
          </a:prstGeom>
          <a:solidFill>
            <a:srgbClr val="1F4169"/>
          </a:solidFill>
          <a:ln w="1397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831336"/>
            <a:ext cx="3090672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HYBRID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050791"/>
            <a:ext cx="3090672" cy="16459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30" b="0">
                <a:solidFill>
                  <a:srgbClr val="FFFFFF"/>
                </a:solidFill>
                <a:latin typeface="Aptos"/>
              </a:rPr>
              <a:t>Combine vision + engineering 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9048" y="4343400"/>
            <a:ext cx="0" cy="256032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13632" y="4572000"/>
            <a:ext cx="4370832" cy="612648"/>
          </a:xfrm>
          <a:prstGeom prst="roundRect">
            <a:avLst/>
          </a:prstGeom>
          <a:solidFill>
            <a:srgbClr val="2F537D"/>
          </a:solidFill>
          <a:ln w="13970">
            <a:solidFill>
              <a:srgbClr val="2F5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69080" y="4654296"/>
            <a:ext cx="4059936" cy="21031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  <a:latin typeface="Aptos"/>
              </a:rPr>
              <a:t>DETERMINISTIC ENGINEERING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882896"/>
            <a:ext cx="4059936" cy="16459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Aptos"/>
              </a:rPr>
              <a:t>Rules • calculations • quantities •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65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8229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CUT LENGTH + DL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39717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94581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PIECE GENERATION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6069" y="5751575"/>
            <a:ext cx="2542032" cy="457200"/>
          </a:xfrm>
          <a:prstGeom prst="roundRect">
            <a:avLst/>
          </a:prstGeom>
          <a:solidFill>
            <a:srgbClr val="EBF2F9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0933" y="5824727"/>
            <a:ext cx="2432303" cy="2743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00" b="1">
                <a:solidFill>
                  <a:srgbClr val="1F4169"/>
                </a:solidFill>
                <a:latin typeface="Aptos"/>
              </a:rPr>
              <a:t>STEEL QUANTITY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888185" y="5189221"/>
            <a:ext cx="4187953" cy="219456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 flipH="1">
            <a:off x="4734134" y="5203624"/>
            <a:ext cx="1365405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</p:cNvCxnSpPr>
          <p:nvPr/>
        </p:nvCxnSpPr>
        <p:spPr>
          <a:xfrm>
            <a:off x="6099539" y="5222602"/>
            <a:ext cx="1450947" cy="31089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798101" y="5980175"/>
            <a:ext cx="329184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08997" y="5742431"/>
            <a:ext cx="1024128" cy="475488"/>
          </a:xfrm>
          <a:prstGeom prst="roundRect">
            <a:avLst/>
          </a:prstGeom>
          <a:solidFill>
            <a:srgbClr val="EBF7ED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54717" y="5815583"/>
            <a:ext cx="932688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26702F"/>
                </a:solidFill>
                <a:latin typeface="Aptos"/>
              </a:rPr>
              <a:t>BBS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133125" y="5980175"/>
            <a:ext cx="347472" cy="0"/>
          </a:xfrm>
          <a:prstGeom prst="line">
            <a:avLst/>
          </a:prstGeom>
          <a:ln w="22860">
            <a:solidFill>
              <a:srgbClr val="1F4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462309" y="5742431"/>
            <a:ext cx="1042415" cy="475488"/>
          </a:xfrm>
          <a:prstGeom prst="roundRect">
            <a:avLst/>
          </a:prstGeom>
          <a:solidFill>
            <a:srgbClr val="FFF8E1"/>
          </a:solidFill>
          <a:ln w="13970"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08029" y="5815583"/>
            <a:ext cx="950976" cy="29260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80" b="1">
                <a:solidFill>
                  <a:srgbClr val="A67714"/>
                </a:solidFill>
                <a:latin typeface="Aptos"/>
              </a:rPr>
              <a:t>EXCEL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6620256"/>
            <a:ext cx="1938528" cy="10972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r"/>
            <a:r>
              <a:rPr sz="670" b="0">
                <a:solidFill>
                  <a:srgbClr val="566576"/>
                </a:solidFill>
                <a:latin typeface="Aptos"/>
              </a:rPr>
              <a:t>AI Construction Estimation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A38169-7FE9-879B-310C-17A293A58283}"/>
              </a:ext>
            </a:extLst>
          </p:cNvPr>
          <p:cNvCxnSpPr>
            <a:endCxn id="31" idx="0"/>
          </p:cNvCxnSpPr>
          <p:nvPr/>
        </p:nvCxnSpPr>
        <p:spPr>
          <a:xfrm>
            <a:off x="1888185" y="5440680"/>
            <a:ext cx="6196" cy="310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23F32F-0D69-1573-0198-8C05ED9BE9A6}"/>
              </a:ext>
            </a:extLst>
          </p:cNvPr>
          <p:cNvCxnSpPr>
            <a:endCxn id="32" idx="0"/>
          </p:cNvCxnSpPr>
          <p:nvPr/>
        </p:nvCxnSpPr>
        <p:spPr>
          <a:xfrm>
            <a:off x="4710732" y="5514519"/>
            <a:ext cx="1" cy="310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063226-9590-0BB8-BDA8-9272AC2EF64F}"/>
              </a:ext>
            </a:extLst>
          </p:cNvPr>
          <p:cNvCxnSpPr>
            <a:endCxn id="34" idx="0"/>
          </p:cNvCxnSpPr>
          <p:nvPr/>
        </p:nvCxnSpPr>
        <p:spPr>
          <a:xfrm>
            <a:off x="7513516" y="5533497"/>
            <a:ext cx="13569" cy="218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76607" cy="7022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36575"/>
            <a:ext cx="12176607" cy="146305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66687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65D"/>
                </a:solidFill>
              </a:defRPr>
            </a:pPr>
            <a:r>
              <a:rPr lang="en-US" dirty="0"/>
              <a:t>9</a:t>
            </a:r>
            <a:r>
              <a:rPr dirty="0"/>
              <a:t>. End-to-End </a:t>
            </a:r>
            <a:r>
              <a:rPr lang="en-US" dirty="0"/>
              <a:t>Steel </a:t>
            </a:r>
            <a:r>
              <a:rPr dirty="0"/>
              <a:t>Estimation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1.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Upload drawing package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3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2.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Understand drawing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2040" y="1938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5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3.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Extract geometry &amp;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59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4.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Identify components / material regions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55480" y="1938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417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5.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Route to estimation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44887" y="3640885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6.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AI / Vision where 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05623" y="3657601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7.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Hybrid resolution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92040" y="4224528"/>
            <a:ext cx="274319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3703320"/>
            <a:ext cx="2057400" cy="1051560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8.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t>Deterministic quantity calculation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19553" y="3703320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9.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Validation &amp; review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55480" y="4224528"/>
            <a:ext cx="274320" cy="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5377" y="3680461"/>
            <a:ext cx="205740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46304" bIns="73152"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rPr dirty="0"/>
              <a:t>10.</a:t>
            </a:r>
          </a:p>
          <a:p>
            <a:pPr>
              <a:spcBef>
                <a:spcPts val="500"/>
              </a:spcBef>
              <a:defRPr sz="1400">
                <a:solidFill>
                  <a:srgbClr val="2D3741"/>
                </a:solidFill>
              </a:defRPr>
            </a:pPr>
            <a:r>
              <a:rPr dirty="0"/>
              <a:t>BOQ / BBS / Excel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873587" y="2468880"/>
            <a:ext cx="0" cy="1143000"/>
          </a:xfrm>
          <a:prstGeom prst="line">
            <a:avLst/>
          </a:prstGeom>
          <a:ln w="304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51081" y="6473952"/>
            <a:ext cx="17075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874"/>
                </a:solidFill>
              </a:defRPr>
            </a:pPr>
            <a:r>
              <a:rPr dirty="0"/>
              <a:t>AI Construction Estimation  |  </a:t>
            </a:r>
            <a:r>
              <a:rPr lang="en-US" dirty="0"/>
              <a:t>10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850392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50" b="1">
                <a:solidFill>
                  <a:srgbClr val="1F4169"/>
                </a:solidFill>
                <a:latin typeface="Aptos"/>
              </a:rPr>
              <a:t>10. Steel Beam — Internal Accuracy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32104"/>
            <a:ext cx="8046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80" b="0">
                <a:solidFill>
                  <a:srgbClr val="566576"/>
                </a:solidFill>
                <a:latin typeface="Aptos"/>
              </a:rPr>
              <a:t>Current model testing result  •  Subject to Estimation Team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265176"/>
            <a:ext cx="2761488" cy="804672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79408" y="365760"/>
            <a:ext cx="2450592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19" b="1">
                <a:solidFill>
                  <a:srgbClr val="1F4169"/>
                </a:solidFill>
                <a:latin typeface="Aptos"/>
              </a:rPr>
              <a:t>Steel Beam Estimation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42832" y="621792"/>
            <a:ext cx="252374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20" b="1" dirty="0">
                <a:solidFill>
                  <a:srgbClr val="0041DC"/>
                </a:solidFill>
                <a:latin typeface="Aptos"/>
              </a:rPr>
              <a:t>http://13.127.104.99/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80160"/>
            <a:ext cx="9046267" cy="3529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850" y="1298448"/>
            <a:ext cx="9104769" cy="457200"/>
          </a:xfrm>
          <a:prstGeom prst="rect">
            <a:avLst/>
          </a:prstGeom>
          <a:solidFill>
            <a:srgbClr val="1F4169"/>
          </a:solidFill>
          <a:ln w="12700">
            <a:solidFill>
              <a:srgbClr val="1F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344168"/>
            <a:ext cx="6766560" cy="2468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Beam BBS — Automation vs Estimated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91056"/>
            <a:ext cx="27432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0" b="0">
                <a:solidFill>
                  <a:srgbClr val="FFFFFF"/>
                </a:solidFill>
                <a:latin typeface="Aptos"/>
              </a:rPr>
              <a:t>Inizio 9th 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1353312"/>
            <a:ext cx="1938528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sz="880" b="0">
                <a:solidFill>
                  <a:srgbClr val="FFFFFF"/>
                </a:solidFill>
                <a:latin typeface="Aptos"/>
              </a:rPr>
              <a:t>All quantities in KGS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847088"/>
            <a:ext cx="170078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" y="1856231"/>
            <a:ext cx="168249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2576" y="1847088"/>
            <a:ext cx="51206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31720" y="1856231"/>
            <a:ext cx="49377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UOM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3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958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3872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33672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19472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28616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4416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59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8504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04304" y="1847088"/>
            <a:ext cx="694944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13448" y="1856231"/>
            <a:ext cx="6766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99248" y="1847088"/>
            <a:ext cx="1298448" cy="411480"/>
          </a:xfrm>
          <a:prstGeom prst="rect">
            <a:avLst/>
          </a:prstGeom>
          <a:solidFill>
            <a:srgbClr val="DAE6F2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08392" y="1856231"/>
            <a:ext cx="128016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225856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" y="226314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Estimated / Manual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22576" y="225856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27148" y="226314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39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39211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1,561.1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958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53415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9,375.2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24528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29100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9,171.8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2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24044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2,871.9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4416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18988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12,026.0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13932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22,638.4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04304" y="225856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08876" y="22631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1,152.0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99248" y="2258568"/>
            <a:ext cx="129844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03820" y="226314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58,796.3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" y="267004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" y="267462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Automated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22576" y="267004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327148" y="267462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9211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931.1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958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3415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3,917.6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24528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9100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 dirty="0">
                <a:solidFill>
                  <a:srgbClr val="26323F"/>
                </a:solidFill>
                <a:latin typeface="Aptos"/>
              </a:rPr>
              <a:t>2,599.0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19472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24044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3,374.8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14416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618988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10,205.7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313932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13,794.8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04304" y="267004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008876" y="267462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323F"/>
                </a:solidFill>
                <a:latin typeface="Aptos"/>
              </a:rPr>
              <a:t>1,185.3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99248" y="2670048"/>
            <a:ext cx="1298448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703820" y="267462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26702F"/>
                </a:solidFill>
                <a:latin typeface="Aptos"/>
              </a:rPr>
              <a:t>36,008.4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" y="3081528"/>
            <a:ext cx="170078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6364" y="30861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26323F"/>
                </a:solidFill>
                <a:latin typeface="Aptos"/>
              </a:rPr>
              <a:t>Difference in quantity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22576" y="3081528"/>
            <a:ext cx="5120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327148" y="308610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KGS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39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39211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630.0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2958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53415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5,457.6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24528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29100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6,572.7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919472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24044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502.9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14416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618988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1,820.3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13932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8,843.5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004304" y="3081528"/>
            <a:ext cx="69494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008876" y="308610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0">
                <a:solidFill>
                  <a:srgbClr val="26323F"/>
                </a:solidFill>
                <a:latin typeface="Aptos"/>
              </a:rPr>
              <a:t>33.4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99248" y="308152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703820" y="308610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A61B2B"/>
                </a:solidFill>
                <a:latin typeface="Aptos"/>
              </a:rPr>
              <a:t>22,787.9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1792" y="3493008"/>
            <a:ext cx="170078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26364" y="349758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Error Scale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22576" y="3493008"/>
            <a:ext cx="51206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327148" y="3497580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834639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39211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529584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53415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24528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29100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19472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924044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14416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618988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09360" y="3493008"/>
            <a:ext cx="694944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313932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004304" y="3493008"/>
            <a:ext cx="694944" cy="411480"/>
          </a:xfrm>
          <a:prstGeom prst="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008876" y="349758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26702F"/>
                </a:solidFill>
                <a:latin typeface="Aptos"/>
              </a:rPr>
              <a:t>Overestimate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99248" y="3493008"/>
            <a:ext cx="1298448" cy="411480"/>
          </a:xfrm>
          <a:prstGeom prst="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703820" y="3497580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1">
                <a:solidFill>
                  <a:srgbClr val="A61B2B"/>
                </a:solidFill>
                <a:latin typeface="Aptos"/>
              </a:rPr>
              <a:t>Underestimate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21792" y="3904487"/>
            <a:ext cx="170078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6364" y="3909059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4169"/>
                </a:solidFill>
                <a:latin typeface="Aptos"/>
              </a:rPr>
              <a:t>% Accuracy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22576" y="3904487"/>
            <a:ext cx="51206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327148" y="3909059"/>
            <a:ext cx="5029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39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839211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2958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53415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42%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24528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229100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28%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919472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924044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82%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14416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618988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85%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313932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004304" y="3904487"/>
            <a:ext cx="694944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008876" y="3909059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97%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699248" y="3904487"/>
            <a:ext cx="1298448" cy="411480"/>
          </a:xfrm>
          <a:prstGeom prst="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7703820" y="3909059"/>
            <a:ext cx="12893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40" b="1">
                <a:solidFill>
                  <a:srgbClr val="1F4169"/>
                </a:solidFill>
                <a:latin typeface="Aptos"/>
              </a:rPr>
              <a:t>61%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5262372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130" b="1">
                <a:solidFill>
                  <a:srgbClr val="1F4169"/>
                </a:solidFill>
                <a:latin typeface="Aptos"/>
              </a:rPr>
              <a:t>Key Observations from Estimation Team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48640" y="5545836"/>
            <a:ext cx="5468112" cy="420624"/>
          </a:xfrm>
          <a:prstGeom prst="roundRect">
            <a:avLst/>
          </a:prstGeom>
          <a:solidFill>
            <a:srgbClr val="FDEFF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40080" y="5609844"/>
            <a:ext cx="274320" cy="274320"/>
          </a:xfrm>
          <a:prstGeom prst="ellipse">
            <a:avLst/>
          </a:prstGeom>
          <a:solidFill>
            <a:srgbClr val="A6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40080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5840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1B2B"/>
                </a:solidFill>
                <a:latin typeface="Aptos"/>
              </a:rPr>
              <a:t>BAR</a:t>
            </a:r>
            <a:r>
              <a:rPr sz="840" b="1" dirty="0">
                <a:solidFill>
                  <a:srgbClr val="A61B2B"/>
                </a:solidFill>
                <a:latin typeface="Aptos"/>
              </a:rPr>
              <a:t> </a:t>
            </a:r>
            <a:r>
              <a:rPr sz="1000" b="1" dirty="0">
                <a:solidFill>
                  <a:srgbClr val="A61B2B"/>
                </a:solidFill>
                <a:latin typeface="Aptos"/>
              </a:rPr>
              <a:t>DIAMETER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84831" y="5608503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Top bars specified as 16 mm in the drawing are sometimes read as 20 mm in the output.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144768" y="5545836"/>
            <a:ext cx="5468112" cy="420624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6236207" y="5609844"/>
            <a:ext cx="274320" cy="274320"/>
          </a:xfrm>
          <a:prstGeom prst="ellipse">
            <a:avLst/>
          </a:prstGeom>
          <a:solidFill>
            <a:srgbClr val="A67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236207" y="5605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01968" y="5601480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A67714"/>
                </a:solidFill>
                <a:latin typeface="Aptos"/>
              </a:rPr>
              <a:t>STIRRUPS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80960" y="5677753"/>
            <a:ext cx="379476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Number of stirrups calculation is incorrect in some cases.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48640" y="6030468"/>
            <a:ext cx="5468112" cy="420624"/>
          </a:xfrm>
          <a:prstGeom prst="roundRect">
            <a:avLst/>
          </a:prstGeom>
          <a:solidFill>
            <a:srgbClr val="EBF2F9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640080" y="6094476"/>
            <a:ext cx="274320" cy="274320"/>
          </a:xfrm>
          <a:prstGeom prst="ellipse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40080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05840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1F4169"/>
                </a:solidFill>
                <a:latin typeface="Aptos"/>
              </a:rPr>
              <a:t>SPACER</a:t>
            </a:r>
            <a:r>
              <a:rPr sz="840" b="1" dirty="0">
                <a:solidFill>
                  <a:srgbClr val="1F4169"/>
                </a:solidFill>
                <a:latin typeface="Aptos"/>
              </a:rPr>
              <a:t> </a:t>
            </a:r>
            <a:r>
              <a:rPr sz="1000" b="1" dirty="0">
                <a:solidFill>
                  <a:srgbClr val="1F4169"/>
                </a:solidFill>
                <a:latin typeface="Aptos"/>
              </a:rPr>
              <a:t>BARS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84831" y="6093136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dirty="0">
                <a:solidFill>
                  <a:srgbClr val="26323F"/>
                </a:solidFill>
                <a:latin typeface="Aptos"/>
              </a:rPr>
              <a:t>Spacer diameter and quantity are not consistently taken as per General Notes; same beam may be counted twice.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144768" y="6030468"/>
            <a:ext cx="5468112" cy="420624"/>
          </a:xfrm>
          <a:prstGeom prst="roundRect">
            <a:avLst/>
          </a:prstGeom>
          <a:solidFill>
            <a:srgbClr val="EBF7ED"/>
          </a:solidFill>
          <a:ln w="1270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6236207" y="6094476"/>
            <a:ext cx="274320" cy="274320"/>
          </a:xfrm>
          <a:prstGeom prst="ellipse">
            <a:avLst/>
          </a:prstGeom>
          <a:solidFill>
            <a:srgbClr val="267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36207" y="6089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01968" y="60861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>
                <a:solidFill>
                  <a:srgbClr val="26702F"/>
                </a:solidFill>
                <a:latin typeface="Aptos"/>
              </a:rPr>
              <a:t>BEAM</a:t>
            </a:r>
            <a:r>
              <a:rPr sz="840" b="1" dirty="0">
                <a:solidFill>
                  <a:srgbClr val="26702F"/>
                </a:solidFill>
                <a:latin typeface="Aptos"/>
              </a:rPr>
              <a:t> </a:t>
            </a:r>
            <a:r>
              <a:rPr sz="1000" b="1" dirty="0">
                <a:solidFill>
                  <a:srgbClr val="26702F"/>
                </a:solidFill>
                <a:latin typeface="Aptos"/>
              </a:rPr>
              <a:t>SIZE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680960" y="6093135"/>
            <a:ext cx="3794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26323F"/>
                </a:solidFill>
                <a:latin typeface="Aptos"/>
              </a:rPr>
              <a:t>Beam length is not always as per the framing plan, causing slight underestimation.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89720" y="6185916"/>
            <a:ext cx="242316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80" b="0">
                <a:solidFill>
                  <a:srgbClr val="566576"/>
                </a:solidFill>
                <a:latin typeface="Aptos"/>
              </a:rPr>
              <a:t>AI Construction Estimation  |  Steel Beam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A43127-1782-9D96-879B-E2ED149F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290" y="716044"/>
            <a:ext cx="6035563" cy="2712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C26649-927D-4FC9-1586-152D0BF7C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29" y="3245609"/>
            <a:ext cx="4293977" cy="3491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B2B8B0-98A1-206C-8E95-48518FCAFC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950" y="4242281"/>
            <a:ext cx="4383152" cy="2414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B2B9D-E961-310D-9977-AAE0315A77A9}"/>
              </a:ext>
            </a:extLst>
          </p:cNvPr>
          <p:cNvSpPr txBox="1"/>
          <p:nvPr/>
        </p:nvSpPr>
        <p:spPr>
          <a:xfrm>
            <a:off x="4125096" y="169250"/>
            <a:ext cx="362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Cropped Beam Image Sent to Claude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3F69-3B1C-7D0F-B352-BE9465E0DDC7}"/>
              </a:ext>
            </a:extLst>
          </p:cNvPr>
          <p:cNvSpPr txBox="1"/>
          <p:nvPr/>
        </p:nvSpPr>
        <p:spPr>
          <a:xfrm>
            <a:off x="7678994" y="3853284"/>
            <a:ext cx="3104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Estimation Team Interpretation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21E6B-F97C-2B71-7E14-7C825E38C816}"/>
              </a:ext>
            </a:extLst>
          </p:cNvPr>
          <p:cNvSpPr txBox="1"/>
          <p:nvPr/>
        </p:nvSpPr>
        <p:spPr>
          <a:xfrm>
            <a:off x="219029" y="2890684"/>
            <a:ext cx="2353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Claude/ Hybrid Answer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B37B51-ED46-CF9A-FDD1-7550370D374C}"/>
              </a:ext>
            </a:extLst>
          </p:cNvPr>
          <p:cNvSpPr txBox="1"/>
          <p:nvPr/>
        </p:nvSpPr>
        <p:spPr>
          <a:xfrm>
            <a:off x="304800" y="334297"/>
            <a:ext cx="1236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Steel Beam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932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29002-FC38-7C9C-E2DD-27D02852B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537" y="479116"/>
            <a:ext cx="5730256" cy="2674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283EFC-ADAA-AD73-A8B1-F8C132416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78" y="3182703"/>
            <a:ext cx="4092295" cy="3505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A4779-83D9-783C-DDF3-F3A2D8A91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343" y="4447683"/>
            <a:ext cx="4275826" cy="1557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857284-D8E4-9E93-B899-A472E803E893}"/>
              </a:ext>
            </a:extLst>
          </p:cNvPr>
          <p:cNvSpPr txBox="1"/>
          <p:nvPr/>
        </p:nvSpPr>
        <p:spPr>
          <a:xfrm>
            <a:off x="3742149" y="44112"/>
            <a:ext cx="3805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0FDD0-6740-E6E2-350A-9524AF050D7C}"/>
              </a:ext>
            </a:extLst>
          </p:cNvPr>
          <p:cNvSpPr txBox="1"/>
          <p:nvPr/>
        </p:nvSpPr>
        <p:spPr>
          <a:xfrm>
            <a:off x="7649497" y="3971131"/>
            <a:ext cx="3431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Estimation Team Interpretation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E5663C-5C08-BB0D-9DB6-5AE593092FD2}"/>
              </a:ext>
            </a:extLst>
          </p:cNvPr>
          <p:cNvSpPr txBox="1"/>
          <p:nvPr/>
        </p:nvSpPr>
        <p:spPr>
          <a:xfrm>
            <a:off x="265471" y="2727789"/>
            <a:ext cx="2750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2F67-0301-5FB8-192D-7EF5B9AFC363}"/>
              </a:ext>
            </a:extLst>
          </p:cNvPr>
          <p:cNvSpPr txBox="1"/>
          <p:nvPr/>
        </p:nvSpPr>
        <p:spPr>
          <a:xfrm>
            <a:off x="156278" y="294450"/>
            <a:ext cx="1928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Steel Beam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39351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D63B8-CBB4-607E-25CA-D501E840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09" y="931938"/>
            <a:ext cx="6058425" cy="279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F2D4F-A360-E0F4-5B6D-ED69D522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59" y="4187578"/>
            <a:ext cx="4198984" cy="241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08765-BC64-ED33-CC11-4892290B8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588" y="4527671"/>
            <a:ext cx="3924640" cy="10135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268085-043B-64B6-678E-94A99A322699}"/>
              </a:ext>
            </a:extLst>
          </p:cNvPr>
          <p:cNvSpPr txBox="1"/>
          <p:nvPr/>
        </p:nvSpPr>
        <p:spPr>
          <a:xfrm>
            <a:off x="7433187" y="39055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Estimation Team Interpretation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1AF30-18CB-D80F-E5E2-1E8B3DE9D982}"/>
              </a:ext>
            </a:extLst>
          </p:cNvPr>
          <p:cNvSpPr txBox="1"/>
          <p:nvPr/>
        </p:nvSpPr>
        <p:spPr>
          <a:xfrm>
            <a:off x="4241975" y="205841"/>
            <a:ext cx="3708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Cropped Beam Image Sent to Claude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2DAE8-3642-E17D-394E-4F2453E9FEC6}"/>
              </a:ext>
            </a:extLst>
          </p:cNvPr>
          <p:cNvSpPr txBox="1"/>
          <p:nvPr/>
        </p:nvSpPr>
        <p:spPr>
          <a:xfrm>
            <a:off x="157996" y="3612174"/>
            <a:ext cx="2349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Claude/ Hybrid Answer</a:t>
            </a: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35C68-A14B-A13C-6EE6-98B2136B48D0}"/>
              </a:ext>
            </a:extLst>
          </p:cNvPr>
          <p:cNvSpPr txBox="1"/>
          <p:nvPr/>
        </p:nvSpPr>
        <p:spPr>
          <a:xfrm>
            <a:off x="119954" y="132987"/>
            <a:ext cx="1364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Steel Beam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9795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F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0676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F4169"/>
                </a:solidFill>
                <a:latin typeface="Aptos Display"/>
              </a:rPr>
              <a:t>Why Estimation Automation Takes</a:t>
            </a:r>
            <a:r>
              <a:rPr lang="en-US" sz="2500" b="1" dirty="0">
                <a:solidFill>
                  <a:srgbClr val="1F4169"/>
                </a:solidFill>
                <a:latin typeface="Aptos Display"/>
              </a:rPr>
              <a:t> Significant</a:t>
            </a:r>
            <a:r>
              <a:rPr sz="2500" b="1" dirty="0">
                <a:solidFill>
                  <a:srgbClr val="1F4169"/>
                </a:solidFill>
                <a:latin typeface="Aptos Display"/>
              </a:rPr>
              <a:t>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32688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66576"/>
                </a:solidFill>
                <a:latin typeface="Aptos"/>
              </a:rPr>
              <a:t>Development effort varies by work item  •  Engineering understanding + diagnostics +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1. Engineering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Different drawings, structural rules, quantity logic and calculation methods for each work 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2. Drawing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130092"/>
            <a:ext cx="3090672" cy="567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dirty="0">
                <a:solidFill>
                  <a:srgbClr val="26323F"/>
                </a:solidFill>
                <a:latin typeface="Aptos"/>
              </a:rPr>
              <a:t>Understand how information is represented, connected and interpreted in real construction drawings.</a:t>
            </a:r>
            <a:r>
              <a:rPr lang="en-US" sz="1030" dirty="0">
                <a:solidFill>
                  <a:srgbClr val="26323F"/>
                </a:solidFill>
                <a:latin typeface="Aptos"/>
              </a:rPr>
              <a:t> This must be transferred to the System. </a:t>
            </a:r>
            <a:endParaRPr sz="1030" dirty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74152" y="1481328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591056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3. Root-Cause &amp; 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84248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Trace incorrect results through multiple stages to identify the actual source of the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55648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4. Solution &amp; Iteration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Implement possible solutions and test them across different drawing conditions and edge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154680"/>
            <a:ext cx="3493008" cy="1481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3264408"/>
            <a:ext cx="32186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4169"/>
                </a:solidFill>
                <a:latin typeface="Aptos"/>
              </a:rPr>
              <a:t>5. Validation &amp;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657600"/>
            <a:ext cx="30906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>
                <a:solidFill>
                  <a:srgbClr val="26323F"/>
                </a:solidFill>
                <a:latin typeface="Aptos"/>
              </a:rPr>
              <a:t>Validate outputs against engineering expectations before the automation can be trusted.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817352" cy="749808"/>
          </a:xfrm>
          <a:prstGeom prst="roundRect">
            <a:avLst/>
          </a:prstGeom>
          <a:solidFill>
            <a:srgbClr val="EBF2F9"/>
          </a:solidFill>
          <a:ln w="11430">
            <a:solidFill>
              <a:srgbClr val="CC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6"/>
            <a:ext cx="10360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F4169"/>
                </a:solidFill>
                <a:latin typeface="Aptos"/>
              </a:rPr>
              <a:t>Development time = Understanding  →  Diagnosis  →  Solution  →  Iteration  → 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566576"/>
                </a:solidFill>
                <a:latin typeface="Aptos"/>
              </a:rPr>
              <a:t>AI Construction Estimation  | 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1317</Words>
  <Application>Microsoft Office PowerPoint</Application>
  <PresentationFormat>Widescreen</PresentationFormat>
  <Paragraphs>306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Nishanth Bilimagga Hanumantha</dc:creator>
  <cp:keywords/>
  <dc:description>generated using python-pptx</dc:description>
  <cp:lastModifiedBy>Nishanth Bilimagga Hanumantha</cp:lastModifiedBy>
  <cp:revision>70</cp:revision>
  <dcterms:created xsi:type="dcterms:W3CDTF">2013-01-27T09:14:16Z</dcterms:created>
  <dcterms:modified xsi:type="dcterms:W3CDTF">2026-09-10T06:19:03Z</dcterms:modified>
  <cp:category/>
</cp:coreProperties>
</file>