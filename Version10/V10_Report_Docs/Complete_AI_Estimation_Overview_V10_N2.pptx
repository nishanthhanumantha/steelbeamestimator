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71" r:id="rId4"/>
    <p:sldId id="259" r:id="rId5"/>
    <p:sldId id="260" r:id="rId6"/>
    <p:sldId id="261" r:id="rId7"/>
    <p:sldId id="276" r:id="rId8"/>
    <p:sldId id="278" r:id="rId9"/>
    <p:sldId id="268" r:id="rId10"/>
    <p:sldId id="257" r:id="rId11"/>
    <p:sldId id="272" r:id="rId12"/>
    <p:sldId id="274" r:id="rId13"/>
    <p:sldId id="275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257A0-5AE3-419B-9075-224093B6D73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1DFA9-2CBF-4529-B541-F4B26AC33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67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A1DFA9-2CBF-4529-B541-F4B26AC335B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044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13.201.15.89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195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5982215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8365D"/>
                </a:solidFill>
              </a:defRPr>
            </a:pPr>
            <a:r>
              <a:rPr dirty="0"/>
              <a:t>AI-DRIVEN</a:t>
            </a:r>
            <a:br>
              <a:rPr dirty="0"/>
            </a:br>
            <a:r>
              <a:rPr dirty="0"/>
              <a:t>ESTIMATION</a:t>
            </a:r>
            <a:r>
              <a:rPr lang="en-US" dirty="0"/>
              <a:t> AUTOMATION</a:t>
            </a:r>
            <a:endParaRPr dirty="0"/>
          </a:p>
          <a:p>
            <a:pPr>
              <a:defRPr sz="2400" b="1">
                <a:solidFill>
                  <a:srgbClr val="1F4E79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DRAWINGS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4453128"/>
            <a:ext cx="50292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6616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AI / VISION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9" y="4453128"/>
            <a:ext cx="502921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1792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ENGINEERING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0" y="4453128"/>
            <a:ext cx="50292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86968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QUANTITIES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t>1. Construction Estimation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rPr dirty="0"/>
              <a:t>Major construction materials / work categories identified with the Estimation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456432" cy="1024128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rPr dirty="0"/>
              <a:t>1. Concrete</a:t>
            </a:r>
            <a:r>
              <a:rPr lang="en-US" dirty="0"/>
              <a:t> &amp; Shuttering</a:t>
            </a:r>
            <a:endParaRPr dirty="0"/>
          </a:p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HIGH PRIORITY  |  </a:t>
            </a:r>
            <a:r>
              <a:rPr lang="en-US" dirty="0"/>
              <a:t>C</a:t>
            </a:r>
            <a:r>
              <a:rPr dirty="0"/>
              <a:t>urrent develop</a:t>
            </a:r>
            <a:r>
              <a:rPr lang="en-US" dirty="0"/>
              <a:t>ment Focus | Beam &amp; Slab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251959" y="1353312"/>
            <a:ext cx="3456432" cy="1024128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rPr dirty="0"/>
              <a:t>2. Steel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HIGH PRIORITY  |  </a:t>
            </a:r>
            <a:r>
              <a:rPr lang="en-US" dirty="0"/>
              <a:t>C</a:t>
            </a:r>
            <a:r>
              <a:rPr dirty="0"/>
              <a:t>urrent develop</a:t>
            </a:r>
            <a:r>
              <a:rPr lang="en-US" dirty="0"/>
              <a:t>ment Focus | Beam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001000" y="1353312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3. Blockwork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Wall / block quantities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4. Tiles &amp; Granite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Floor / wall finishes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5. Plastering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Internal / external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6. Painting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Paintable surfaces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7. Waterproofing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Wet areas / terraces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3840480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8. Doors &amp; Windows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Openings / glazing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840480"/>
            <a:ext cx="3456432" cy="1024128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9. Earthwork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Excavation / filling quantities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10. Landscaping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Landscape / external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11. Plumbing &amp; Electrical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Plumbing / electrical 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12. MS Grill 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Grill / metal fabrication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91072"/>
            <a:ext cx="348044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8365D"/>
                </a:solidFill>
              </a:defRPr>
            </a:pPr>
            <a:r>
              <a:rPr dirty="0"/>
              <a:t>Highlighted focus areas:  </a:t>
            </a:r>
            <a:r>
              <a:rPr lang="en-US" dirty="0"/>
              <a:t>High Priority - Steel</a:t>
            </a:r>
            <a:r>
              <a:rPr dirty="0"/>
              <a:t> </a:t>
            </a:r>
            <a:r>
              <a:rPr lang="en-US" dirty="0"/>
              <a:t>&amp; Concrete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960120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t>2. Major Structural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t>The structural estimation framework is organized around these core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456432" cy="1691640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1. Beam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Concrete ✓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S</a:t>
            </a:r>
            <a:r>
              <a:rPr lang="en-US" dirty="0"/>
              <a:t>huttering</a:t>
            </a:r>
            <a:r>
              <a:rPr dirty="0"/>
              <a:t>✓</a:t>
            </a:r>
            <a:br>
              <a:rPr lang="en-US" dirty="0"/>
            </a:br>
            <a:r>
              <a:rPr lang="en-US" dirty="0"/>
              <a:t>Steel</a:t>
            </a:r>
            <a:r>
              <a:rPr lang="en-IN" dirty="0"/>
              <a:t>✓</a:t>
            </a:r>
            <a:endParaRPr dirty="0"/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rPr dirty="0"/>
              <a:t>Current development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353312"/>
            <a:ext cx="3456432" cy="1691640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2. Slab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Concrete ✓</a:t>
            </a:r>
            <a:endParaRPr lang="en-US" dirty="0"/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lang="en-IN" dirty="0"/>
              <a:t>Shuttering ✓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lang="en-IN" dirty="0"/>
              <a:t>Steel</a:t>
            </a:r>
            <a:endParaRPr dirty="0"/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rPr dirty="0"/>
              <a:t>Current development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5331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3. Column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Concrete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Steel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Structural 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4. Foundation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Concrete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Steel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Foundation estimation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5. Shear Wall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Concrete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Steel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Vertical structural wall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6. Retaining Wall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Concrete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Steel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Earth-support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126480"/>
            <a:ext cx="35885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65D"/>
                </a:solidFill>
              </a:defRPr>
            </a:pPr>
            <a:r>
              <a:rPr dirty="0"/>
              <a:t>Highlighted focus</a:t>
            </a:r>
            <a:r>
              <a:rPr lang="en-US" dirty="0"/>
              <a:t> areas</a:t>
            </a:r>
            <a:r>
              <a:rPr dirty="0"/>
              <a:t>:  </a:t>
            </a:r>
            <a:r>
              <a:rPr lang="en-US" dirty="0"/>
              <a:t>High Priority - </a:t>
            </a:r>
            <a:r>
              <a:rPr dirty="0"/>
              <a:t>Beam  </a:t>
            </a:r>
            <a:r>
              <a:rPr lang="en-US" dirty="0"/>
              <a:t>&amp;</a:t>
            </a:r>
            <a:r>
              <a:rPr dirty="0"/>
              <a:t>  Slab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6711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3. What Does Construction Estimation </a:t>
            </a:r>
            <a:r>
              <a:rPr lang="en-US" dirty="0"/>
              <a:t>Involve</a:t>
            </a:r>
            <a:r>
              <a:rPr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rPr dirty="0"/>
              <a:t>From engineering information to measurable, reviewable quantities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874519" cy="1828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INPUT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Drawings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S</a:t>
            </a:r>
            <a:r>
              <a:rPr dirty="0"/>
              <a:t>chedules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N</a:t>
            </a:r>
            <a:r>
              <a:rPr dirty="0"/>
              <a:t>otes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R</a:t>
            </a:r>
            <a:r>
              <a:rPr dirty="0"/>
              <a:t>evisions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INTERPRET &amp; MEASURE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Geometry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D</a:t>
            </a:r>
            <a:r>
              <a:rPr dirty="0"/>
              <a:t>imensions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A</a:t>
            </a:r>
            <a:r>
              <a:rPr dirty="0"/>
              <a:t>reas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L</a:t>
            </a:r>
            <a:r>
              <a:rPr dirty="0"/>
              <a:t>engths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C</a:t>
            </a:r>
            <a:r>
              <a:rPr dirty="0"/>
              <a:t>ounts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6344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6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CALCULATE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 </a:t>
            </a:r>
            <a:r>
              <a:rPr dirty="0"/>
              <a:t>Engineering rules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F</a:t>
            </a:r>
            <a:r>
              <a:rPr dirty="0"/>
              <a:t>ormulas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P</a:t>
            </a:r>
            <a:r>
              <a:rPr dirty="0"/>
              <a:t>roject practices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4380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VALIDATE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Quantity checks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A</a:t>
            </a:r>
            <a:r>
              <a:rPr dirty="0"/>
              <a:t>nomalies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E</a:t>
            </a:r>
            <a:r>
              <a:rPr dirty="0"/>
              <a:t>stimator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21240" y="1828800"/>
            <a:ext cx="1874519" cy="1828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OUTPUT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Quantity take-off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BOQ-ready data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882" y="4709160"/>
            <a:ext cx="10505761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8365D"/>
                </a:solidFill>
              </a:defRPr>
            </a:pPr>
            <a:r>
              <a:rPr dirty="0"/>
              <a:t>AI</a:t>
            </a:r>
            <a:r>
              <a:rPr lang="en-US" dirty="0"/>
              <a:t> Model aims to</a:t>
            </a:r>
            <a:r>
              <a:rPr dirty="0"/>
              <a:t> reduces repetitive effort — engineering logic remains central to quantity calculation.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543052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4. Current AI Development</a:t>
            </a:r>
            <a:r>
              <a:rPr lang="en-US" dirty="0"/>
              <a:t> Focus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94360" y="1787652"/>
            <a:ext cx="530352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CONCRETE — BEAM &amp; SLAB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dirty="0"/>
              <a:t>• Beam concrete</a:t>
            </a:r>
            <a:br>
              <a:rPr dirty="0"/>
            </a:br>
            <a:r>
              <a:rPr dirty="0"/>
              <a:t>• Beam shuttering</a:t>
            </a:r>
            <a:br>
              <a:rPr dirty="0"/>
            </a:br>
            <a:r>
              <a:rPr dirty="0"/>
              <a:t>• Slab concrete</a:t>
            </a:r>
            <a:br>
              <a:rPr dirty="0"/>
            </a:br>
            <a:r>
              <a:rPr dirty="0"/>
              <a:t>• Slab shuttering</a:t>
            </a:r>
            <a:br>
              <a:rPr dirty="0"/>
            </a:br>
            <a:r>
              <a:rPr dirty="0"/>
              <a:t>• Deterministic calculation</a:t>
            </a:r>
            <a:br>
              <a:rPr dirty="0"/>
            </a:br>
            <a:r>
              <a:rPr dirty="0"/>
              <a:t>• LLM assistance for ambiguous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7652"/>
            <a:ext cx="530352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STEEL — BEAM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dirty="0"/>
              <a:t>• Reinforcement drawing understanding</a:t>
            </a:r>
            <a:br>
              <a:rPr dirty="0"/>
            </a:br>
            <a:r>
              <a:rPr dirty="0"/>
              <a:t>• Beam matching / ownership</a:t>
            </a:r>
            <a:br>
              <a:rPr dirty="0"/>
            </a:br>
            <a:r>
              <a:rPr dirty="0"/>
              <a:t>• Reinforcement parsing</a:t>
            </a:r>
            <a:br>
              <a:rPr dirty="0"/>
            </a:br>
            <a:r>
              <a:rPr dirty="0"/>
              <a:t>• Hybrid CAD + Vision</a:t>
            </a:r>
            <a:br>
              <a:rPr dirty="0"/>
            </a:br>
            <a:r>
              <a:rPr dirty="0"/>
              <a:t>• Deterministic engineering authority</a:t>
            </a:r>
            <a:br>
              <a:rPr lang="en-US" dirty="0"/>
            </a:br>
            <a:r>
              <a:rPr lang="en-IN" dirty="0"/>
              <a:t>• Diameter wise Steel Calculations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lang="en-IN" dirty="0"/>
              <a:t>• Steel quantity + BBS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5. Concrete Beam &amp; Slab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1173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C6874"/>
                </a:solidFill>
              </a:defRPr>
            </a:pPr>
            <a:r>
              <a:rPr lang="en-US" sz="1600" b="1" dirty="0"/>
              <a:t>Concrete Beam &amp; Slab Estimation Model Link - </a:t>
            </a:r>
            <a:r>
              <a:rPr lang="en-IN" sz="1600" b="1" u="sng" dirty="0">
                <a:solidFill>
                  <a:srgbClr val="5C6874"/>
                </a:solidFill>
                <a:hlinkClick r:id="rId2"/>
              </a:rPr>
              <a:t>http://13.201.15.89</a:t>
            </a:r>
            <a:endParaRPr sz="16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9659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DRAWING</a:t>
            </a:r>
          </a:p>
          <a:p>
            <a:pPr>
              <a:spcBef>
                <a:spcPts val="500"/>
              </a:spcBef>
              <a:defRPr sz="1600">
                <a:solidFill>
                  <a:srgbClr val="2D3741"/>
                </a:solidFill>
              </a:defRPr>
            </a:pPr>
            <a:r>
              <a:t>DXF framing drawing</a:t>
            </a:r>
            <a:br/>
            <a:r>
              <a:t>Member detection</a:t>
            </a:r>
            <a:br/>
            <a:r>
              <a:t>Geometry / dimensions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404872"/>
            <a:ext cx="59436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34840" y="1417320"/>
            <a:ext cx="3520440" cy="19659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ENGINEERING</a:t>
            </a:r>
          </a:p>
          <a:p>
            <a:pPr>
              <a:spcBef>
                <a:spcPts val="500"/>
              </a:spcBef>
              <a:defRPr sz="1600">
                <a:solidFill>
                  <a:srgbClr val="2D3741"/>
                </a:solidFill>
              </a:defRPr>
            </a:pPr>
            <a:r>
              <a:t>Concrete volume</a:t>
            </a:r>
            <a:br/>
            <a:r>
              <a:t>Shuttering area</a:t>
            </a:r>
            <a:br/>
            <a:r>
              <a:t>Rules &amp; calculations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80" y="2404872"/>
            <a:ext cx="59436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75320" y="1417320"/>
            <a:ext cx="3520440" cy="19659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spcBef>
                <a:spcPts val="500"/>
              </a:spcBef>
              <a:defRPr sz="1600">
                <a:solidFill>
                  <a:srgbClr val="2D3741"/>
                </a:solidFill>
              </a:defRPr>
            </a:pPr>
            <a:r>
              <a:t>Excel quantity report</a:t>
            </a:r>
            <a:br/>
            <a:r>
              <a:t>Review sheet</a:t>
            </a:r>
            <a:br/>
            <a:r>
              <a:t>Flagged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10332720" cy="1682512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just"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• Standard drawings can be processed deterministically.</a:t>
            </a:r>
          </a:p>
          <a:p>
            <a:pPr algn="just"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• LLM assistance is used only when information such as slab thickness, tags, beam dimensions or bounded regions is missing / ambiguous.</a:t>
            </a:r>
          </a:p>
          <a:p>
            <a:pPr algn="just"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• Estimation Team validation demonstrated meaningful productivity improvement; quantity accuracy still requires further improvement.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169"/>
                </a:solidFill>
                <a:latin typeface="Aptos"/>
              </a:rPr>
              <a:t>6. Concrete POC - Estimation Team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429000" cy="3081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79976" y="1389888"/>
            <a:ext cx="3429000" cy="3081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65592" y="1431036"/>
            <a:ext cx="3429000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Current Model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Time Reduction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02752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WHAT THIS 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084831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66576"/>
                </a:solidFill>
                <a:latin typeface="Aptos"/>
              </a:rPr>
              <a:t>Comparison with manual estimation (Estimation Team)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2468880"/>
            <a:ext cx="98755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" y="2487168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 dirty="0">
                <a:solidFill>
                  <a:srgbClr val="1F4169"/>
                </a:solidFill>
                <a:latin typeface="Aptos"/>
              </a:rPr>
              <a:t>Work Item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46504" y="2468880"/>
            <a:ext cx="112471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73936" y="248716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F4169"/>
                </a:solidFill>
                <a:latin typeface="Aptos"/>
              </a:rPr>
              <a:t>Concrete
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71216" y="2468880"/>
            <a:ext cx="112471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98648" y="248716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F4169"/>
                </a:solidFill>
                <a:latin typeface="Aptos"/>
              </a:rPr>
              <a:t>Shuttering
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2971800"/>
            <a:ext cx="987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2990088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6323F"/>
                </a:solidFill>
                <a:latin typeface="Aptos"/>
              </a:rPr>
              <a:t>Slab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46504" y="297180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73936" y="299008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4169"/>
                </a:solidFill>
                <a:latin typeface="Aptos"/>
              </a:rPr>
              <a:t>69%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297180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98648" y="299008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4169"/>
                </a:solidFill>
                <a:latin typeface="Aptos"/>
              </a:rPr>
              <a:t>73%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3474720"/>
            <a:ext cx="987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3493008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6323F"/>
                </a:solidFill>
                <a:latin typeface="Aptos"/>
              </a:rPr>
              <a:t>Beam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46504" y="347472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73936" y="349300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4169"/>
                </a:solidFill>
                <a:latin typeface="Aptos"/>
              </a:rPr>
              <a:t>78%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71216" y="347472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98648" y="349300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4169"/>
                </a:solidFill>
                <a:latin typeface="Aptos"/>
              </a:rPr>
              <a:t>81%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2084831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66576"/>
                </a:solidFill>
                <a:latin typeface="Aptos"/>
              </a:rPr>
              <a:t>Reduction in time required for quantity take-off
(compared to manual method)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44568" y="2697480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16168" y="2697480"/>
            <a:ext cx="1691640" cy="621792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90288" y="2715768"/>
            <a:ext cx="12801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6323F"/>
                </a:solidFill>
                <a:latin typeface="Aptos"/>
              </a:rPr>
              <a:t>Slab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2743200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6702F"/>
                </a:solidFill>
                <a:latin typeface="Aptos"/>
              </a:rPr>
              <a:t>29%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1888" y="3044952"/>
            <a:ext cx="1600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26702F"/>
                </a:solidFill>
                <a:latin typeface="Aptos"/>
              </a:rPr>
              <a:t>time saving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4568" y="3364992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916168" y="3364992"/>
            <a:ext cx="1691640" cy="621792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90288" y="3383280"/>
            <a:ext cx="12801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6323F"/>
                </a:solidFill>
                <a:latin typeface="Aptos"/>
              </a:rPr>
              <a:t>Beam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1888" y="3410712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6702F"/>
                </a:solidFill>
                <a:latin typeface="Aptos"/>
              </a:rPr>
              <a:t>67%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61888" y="3712464"/>
            <a:ext cx="1600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26702F"/>
                </a:solidFill>
                <a:latin typeface="Aptos"/>
              </a:rPr>
              <a:t>time saving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0183" y="2057400"/>
            <a:ext cx="3063240" cy="768096"/>
          </a:xfrm>
          <a:prstGeom prst="round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58200" y="2130552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26702F"/>
                </a:solidFill>
                <a:latin typeface="Aptos"/>
              </a:rPr>
              <a:t>PROCESSING EFFORT REDUCED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2386584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Automation delivers clear time savings for quantity take-off.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30183" y="2953512"/>
            <a:ext cx="3063240" cy="768096"/>
          </a:xfrm>
          <a:prstGeom prst="round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58200" y="3026664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A61B2B"/>
                </a:solidFill>
                <a:latin typeface="Aptos"/>
              </a:rPr>
              <a:t>ACCURACY STILL REQUIRES IMPROVEMENT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3282696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Current quantities are not yet accurate enough for direct use.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30183" y="3849624"/>
            <a:ext cx="3063240" cy="768096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58200" y="3922776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1F4169"/>
                </a:solidFill>
                <a:latin typeface="Aptos"/>
              </a:rPr>
              <a:t>MANUAL VERIFICATION IS CURRENTLY REQUIRED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4178808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Results need to be reviewed and corrected by the Estimation Team.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051" y="5614416"/>
            <a:ext cx="11000232" cy="64008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1219" y="5705856"/>
            <a:ext cx="1737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1F4169"/>
                </a:solidFill>
                <a:latin typeface="Aptos"/>
              </a:rPr>
              <a:t>POC CONCLUSION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96595" y="5733288"/>
            <a:ext cx="18288" cy="393192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943483" y="5717563"/>
            <a:ext cx="841248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dirty="0">
                <a:solidFill>
                  <a:srgbClr val="1F4169"/>
                </a:solidFill>
                <a:latin typeface="Aptos"/>
              </a:rPr>
              <a:t>Automation demonstrated </a:t>
            </a:r>
            <a:r>
              <a:rPr lang="en-US" sz="1050" b="1" dirty="0">
                <a:solidFill>
                  <a:srgbClr val="1F4169"/>
                </a:solidFill>
                <a:latin typeface="Aptos"/>
              </a:rPr>
              <a:t>considerable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 time savings; however, current accuracy requires further development and manual verification before production use.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81160" y="6565392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30" b="0">
                <a:solidFill>
                  <a:srgbClr val="566576"/>
                </a:solidFill>
                <a:latin typeface="Aptos"/>
              </a:rPr>
              <a:t>AI Construction Estimation  |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8686800" cy="47548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2500" b="1">
                <a:solidFill>
                  <a:srgbClr val="1F4169"/>
                </a:solidFill>
                <a:latin typeface="Aptos"/>
              </a:rPr>
              <a:t>7. Steel Beam — Hybrid Estimation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2028" y="1060850"/>
            <a:ext cx="2761488" cy="475488"/>
          </a:xfrm>
          <a:prstGeom prst="roundRect">
            <a:avLst/>
          </a:prstGeom>
          <a:solidFill>
            <a:srgbClr val="1F4169"/>
          </a:solidFill>
          <a:ln w="1397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61756" y="1106570"/>
            <a:ext cx="2542032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DXF DRAWING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170116" y="1549907"/>
            <a:ext cx="2962656" cy="32004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9048" y="1559051"/>
            <a:ext cx="2953512" cy="32004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92807"/>
            <a:ext cx="4992624" cy="9144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4663440" cy="23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20" b="1" dirty="0">
                <a:solidFill>
                  <a:srgbClr val="1F4169"/>
                </a:solidFill>
                <a:latin typeface="Aptos"/>
              </a:rPr>
              <a:t>DETERMINISTIC CAD GEOMETRY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73558"/>
            <a:ext cx="4572000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00" b="0" dirty="0">
                <a:solidFill>
                  <a:srgbClr val="26323F"/>
                </a:solidFill>
                <a:latin typeface="Aptos"/>
              </a:rPr>
              <a:t>CAD geometry  •  Beam </a:t>
            </a:r>
            <a:r>
              <a:rPr sz="1000" b="0" dirty="0">
                <a:solidFill>
                  <a:srgbClr val="26323F"/>
                </a:solidFill>
                <a:latin typeface="Aptos"/>
              </a:rPr>
              <a:t>geometry</a:t>
            </a:r>
            <a:r>
              <a:rPr sz="900" b="0" dirty="0">
                <a:solidFill>
                  <a:srgbClr val="26323F"/>
                </a:solidFill>
                <a:latin typeface="Aptos"/>
              </a:rPr>
              <a:t>  •  Span / engineering facts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892807"/>
            <a:ext cx="4992624" cy="9144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48272" y="1993392"/>
            <a:ext cx="4626864" cy="23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20" b="1">
                <a:solidFill>
                  <a:srgbClr val="1F4169"/>
                </a:solidFill>
                <a:latin typeface="Aptos"/>
              </a:rPr>
              <a:t>RENDER / VISION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304288"/>
            <a:ext cx="4553712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00" b="0" dirty="0">
                <a:solidFill>
                  <a:srgbClr val="26323F"/>
                </a:solidFill>
                <a:latin typeface="Aptos"/>
              </a:rPr>
              <a:t>Context + Detail View  →  Claude Vision  →  Semantic Reinforcement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71800"/>
            <a:ext cx="4992624" cy="612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042520"/>
            <a:ext cx="4626864" cy="18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30" b="1" dirty="0">
                <a:solidFill>
                  <a:srgbClr val="1F4169"/>
                </a:solidFill>
                <a:latin typeface="Aptos"/>
              </a:rPr>
              <a:t>ENGINEERING </a:t>
            </a:r>
            <a:r>
              <a:rPr sz="1100" b="1" dirty="0">
                <a:solidFill>
                  <a:srgbClr val="1F4169"/>
                </a:solidFill>
                <a:latin typeface="Aptos"/>
              </a:rPr>
              <a:t>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60526"/>
            <a:ext cx="4626864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860" b="0" dirty="0">
                <a:solidFill>
                  <a:srgbClr val="566576"/>
                </a:solidFill>
                <a:latin typeface="Aptos"/>
              </a:rPr>
              <a:t>Geometry • </a:t>
            </a:r>
            <a:r>
              <a:rPr sz="1000" b="0" dirty="0">
                <a:solidFill>
                  <a:srgbClr val="566576"/>
                </a:solidFill>
                <a:latin typeface="Aptos"/>
              </a:rPr>
              <a:t>cover</a:t>
            </a:r>
            <a:r>
              <a:rPr sz="860" b="0" dirty="0">
                <a:solidFill>
                  <a:srgbClr val="566576"/>
                </a:solidFill>
                <a:latin typeface="Aptos"/>
              </a:rPr>
              <a:t> • spacers • lengths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2971800"/>
            <a:ext cx="4992624" cy="612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2" y="3042520"/>
            <a:ext cx="4626864" cy="18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30" b="1" dirty="0">
                <a:solidFill>
                  <a:srgbClr val="1F4169"/>
                </a:solidFill>
                <a:latin typeface="Aptos"/>
              </a:rPr>
              <a:t>VISION </a:t>
            </a:r>
            <a:r>
              <a:rPr sz="1100" b="1" dirty="0">
                <a:solidFill>
                  <a:srgbClr val="1F4169"/>
                </a:solidFill>
                <a:latin typeface="Aptos"/>
              </a:rP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236976"/>
            <a:ext cx="4626864" cy="21945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860" b="0" dirty="0">
                <a:solidFill>
                  <a:srgbClr val="566576"/>
                </a:solidFill>
                <a:latin typeface="Aptos"/>
              </a:rPr>
              <a:t>Bar count • diameter • main/extra • stirrups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36392" y="3584448"/>
            <a:ext cx="2962656" cy="27432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099048" y="3584448"/>
            <a:ext cx="2953512" cy="27432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25696" y="3767328"/>
            <a:ext cx="3346704" cy="576072"/>
          </a:xfrm>
          <a:prstGeom prst="roundRect">
            <a:avLst/>
          </a:prstGeom>
          <a:solidFill>
            <a:srgbClr val="1F4169"/>
          </a:solidFill>
          <a:ln w="1397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3831336"/>
            <a:ext cx="3090672" cy="2103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HYBRID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050791"/>
            <a:ext cx="3090672" cy="16459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830" b="0">
                <a:solidFill>
                  <a:srgbClr val="FFFFFF"/>
                </a:solidFill>
                <a:latin typeface="Aptos"/>
              </a:rPr>
              <a:t>Combine vision + engineering facts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9048" y="4343400"/>
            <a:ext cx="0" cy="256032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913632" y="4572000"/>
            <a:ext cx="4370832" cy="612648"/>
          </a:xfrm>
          <a:prstGeom prst="roundRect">
            <a:avLst/>
          </a:prstGeom>
          <a:solidFill>
            <a:srgbClr val="2F537D"/>
          </a:solidFill>
          <a:ln w="13970">
            <a:solidFill>
              <a:srgbClr val="2F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69080" y="4654296"/>
            <a:ext cx="4059936" cy="2103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Aptos"/>
              </a:rPr>
              <a:t>DETERMINISTIC ENGINEERING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882896"/>
            <a:ext cx="4059936" cy="16459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Rules • calculations • quantities •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65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8229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CUT LENGTH + DL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39717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94581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PIECE GENERATION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6069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10933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STEEL QUANTITY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1888185" y="5189221"/>
            <a:ext cx="4187953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</p:cNvCxnSpPr>
          <p:nvPr/>
        </p:nvCxnSpPr>
        <p:spPr>
          <a:xfrm flipH="1">
            <a:off x="4734134" y="5203624"/>
            <a:ext cx="1365405" cy="31089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</p:cNvCxnSpPr>
          <p:nvPr/>
        </p:nvCxnSpPr>
        <p:spPr>
          <a:xfrm>
            <a:off x="6099539" y="5222602"/>
            <a:ext cx="1450947" cy="31089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798101" y="5980175"/>
            <a:ext cx="329184" cy="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108997" y="5742431"/>
            <a:ext cx="1024128" cy="475488"/>
          </a:xfrm>
          <a:prstGeom prst="roundRect">
            <a:avLst/>
          </a:prstGeom>
          <a:solidFill>
            <a:srgbClr val="EBF7ED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54717" y="5815583"/>
            <a:ext cx="932688" cy="29260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50" b="1">
                <a:solidFill>
                  <a:srgbClr val="26702F"/>
                </a:solidFill>
                <a:latin typeface="Aptos"/>
              </a:rPr>
              <a:t>BBS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133125" y="5980175"/>
            <a:ext cx="347472" cy="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462309" y="5742431"/>
            <a:ext cx="1042415" cy="475488"/>
          </a:xfrm>
          <a:prstGeom prst="roundRect">
            <a:avLst/>
          </a:prstGeom>
          <a:solidFill>
            <a:srgbClr val="FFF8E1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08029" y="5815583"/>
            <a:ext cx="950976" cy="29260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80" b="1">
                <a:solidFill>
                  <a:srgbClr val="A67714"/>
                </a:solidFill>
                <a:latin typeface="Aptos"/>
              </a:rPr>
              <a:t>EXCEL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6620256"/>
            <a:ext cx="1938528" cy="10972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r"/>
            <a:r>
              <a:rPr sz="670" b="0">
                <a:solidFill>
                  <a:srgbClr val="566576"/>
                </a:solidFill>
                <a:latin typeface="Aptos"/>
              </a:rPr>
              <a:t>AI Construction Estimation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0A38169-7FE9-879B-310C-17A293A58283}"/>
              </a:ext>
            </a:extLst>
          </p:cNvPr>
          <p:cNvCxnSpPr>
            <a:endCxn id="31" idx="0"/>
          </p:cNvCxnSpPr>
          <p:nvPr/>
        </p:nvCxnSpPr>
        <p:spPr>
          <a:xfrm>
            <a:off x="1888185" y="5440680"/>
            <a:ext cx="6196" cy="310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723F32F-0D69-1573-0198-8C05ED9BE9A6}"/>
              </a:ext>
            </a:extLst>
          </p:cNvPr>
          <p:cNvCxnSpPr>
            <a:endCxn id="32" idx="0"/>
          </p:cNvCxnSpPr>
          <p:nvPr/>
        </p:nvCxnSpPr>
        <p:spPr>
          <a:xfrm>
            <a:off x="4710732" y="5514519"/>
            <a:ext cx="1" cy="310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C063226-9590-0BB8-BDA8-9272AC2EF64F}"/>
              </a:ext>
            </a:extLst>
          </p:cNvPr>
          <p:cNvCxnSpPr>
            <a:endCxn id="34" idx="0"/>
          </p:cNvCxnSpPr>
          <p:nvPr/>
        </p:nvCxnSpPr>
        <p:spPr>
          <a:xfrm>
            <a:off x="7513516" y="5533497"/>
            <a:ext cx="13569" cy="218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76607" cy="7022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36575"/>
            <a:ext cx="12176607" cy="146305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666874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lang="en-US" dirty="0"/>
              <a:t>9</a:t>
            </a:r>
            <a:r>
              <a:rPr dirty="0"/>
              <a:t>. End-to-End </a:t>
            </a:r>
            <a:r>
              <a:rPr lang="en-US" dirty="0"/>
              <a:t>Steel </a:t>
            </a:r>
            <a:r>
              <a:rPr dirty="0"/>
              <a:t>Estimation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1.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Upload drawing package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1938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3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2.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Understand drawing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92040" y="1938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5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3.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Extract geometry &amp; 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59" y="1938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4.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Identify components / material regions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55480" y="1938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29800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5.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Route to estimation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44887" y="3640885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6.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AI / Vision where required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4224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05623" y="3657601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7.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Hybrid resolution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4224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59" y="3703320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8.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Deterministic quantity calculation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59" y="4224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19553" y="3703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9.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Validation &amp; 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55480" y="4224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5377" y="3680461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10.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BOQ / BBS / Excel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873587" y="2468880"/>
            <a:ext cx="0" cy="114300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951081" y="6473952"/>
            <a:ext cx="170751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rPr dirty="0"/>
              <a:t>AI Construction Estimation  |  </a:t>
            </a: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850392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50" b="1">
                <a:solidFill>
                  <a:srgbClr val="1F4169"/>
                </a:solidFill>
                <a:latin typeface="Aptos"/>
              </a:rPr>
              <a:t>10. Steel Beam — Internal Accuracy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32104"/>
            <a:ext cx="8046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80" b="0">
                <a:solidFill>
                  <a:srgbClr val="566576"/>
                </a:solidFill>
                <a:latin typeface="Aptos"/>
              </a:rPr>
              <a:t>Current model testing result  •  Subject to Estimation Team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265176"/>
            <a:ext cx="2761488" cy="804672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79408" y="365760"/>
            <a:ext cx="2450592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19" b="1">
                <a:solidFill>
                  <a:srgbClr val="1F4169"/>
                </a:solidFill>
                <a:latin typeface="Aptos"/>
              </a:rPr>
              <a:t>Steel Beam Estimation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21792"/>
            <a:ext cx="252374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20" b="1">
                <a:solidFill>
                  <a:srgbClr val="0041DC"/>
                </a:solidFill>
                <a:latin typeface="Aptos"/>
              </a:rPr>
              <a:t>http://13.127.104.99/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80160"/>
            <a:ext cx="9046267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850" y="1298448"/>
            <a:ext cx="9104769" cy="457200"/>
          </a:xfrm>
          <a:prstGeom prst="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344168"/>
            <a:ext cx="676656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Beam BBS — Automation vs Estimated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91056"/>
            <a:ext cx="27432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10" b="0">
                <a:solidFill>
                  <a:srgbClr val="FFFFFF"/>
                </a:solidFill>
                <a:latin typeface="Aptos"/>
              </a:rPr>
              <a:t>Inizio 9th framing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1353312"/>
            <a:ext cx="19385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80" b="0">
                <a:solidFill>
                  <a:srgbClr val="FFFFFF"/>
                </a:solidFill>
                <a:latin typeface="Aptos"/>
              </a:rPr>
              <a:t>All quantities in KGS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1847088"/>
            <a:ext cx="170078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" y="1856231"/>
            <a:ext cx="168249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22576" y="1847088"/>
            <a:ext cx="51206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31720" y="1856231"/>
            <a:ext cx="4937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UOM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43783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9584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38728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33672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28616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14416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3559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8504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04304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13448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99248" y="1847088"/>
            <a:ext cx="1298448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08392" y="1856231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Total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" y="225856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" y="226314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Estimated / Manual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22576" y="225856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27148" y="226314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39211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1,561.1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9584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34156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9,375.2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4528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29100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9,171.8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2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24044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2,871.9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14416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18988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12,026.0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13932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22,638.4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04304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08876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1,152.0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99248" y="2258568"/>
            <a:ext cx="129844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03820" y="226314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58,796.3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" y="267004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" y="267462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Automated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22576" y="267004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327148" y="267462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39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39211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931.1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9584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34156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3,917.6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24528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29100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 dirty="0">
                <a:solidFill>
                  <a:srgbClr val="26323F"/>
                </a:solidFill>
                <a:latin typeface="Aptos"/>
              </a:rPr>
              <a:t>2,599.0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19472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24044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3,374.8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14416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18988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10,205.7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313932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13,794.8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04304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008876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1,185.3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99248" y="2670048"/>
            <a:ext cx="1298448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703820" y="267462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702F"/>
                </a:solidFill>
                <a:latin typeface="Aptos"/>
              </a:rPr>
              <a:t>36,008.4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" y="308152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6364" y="30861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Difference in quantity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22576" y="308152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327148" y="308610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34639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39211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630.0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29584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534156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5,457.6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24528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229100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6,572.7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19472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24044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502.9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14416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618988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1,820.3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313932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8,843.5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04304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008876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33.4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99248" y="3081528"/>
            <a:ext cx="1298448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703820" y="308610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A61B2B"/>
                </a:solidFill>
                <a:latin typeface="Aptos"/>
              </a:rPr>
              <a:t>22,787.9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1792" y="3493008"/>
            <a:ext cx="170078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26364" y="349758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A61B2B"/>
                </a:solidFill>
                <a:latin typeface="Aptos"/>
              </a:rPr>
              <a:t>Error Scale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22576" y="3493008"/>
            <a:ext cx="51206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327148" y="349758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834639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839211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529584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534156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24528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229100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19472" y="3493008"/>
            <a:ext cx="694944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924044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26702F"/>
                </a:solidFill>
                <a:latin typeface="Aptos"/>
              </a:rPr>
              <a:t>Overestimate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14416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618988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313932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004304" y="3493008"/>
            <a:ext cx="694944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008876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26702F"/>
                </a:solidFill>
                <a:latin typeface="Aptos"/>
              </a:rPr>
              <a:t>Overestimate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99248" y="3493008"/>
            <a:ext cx="1298448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703820" y="349758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21792" y="3904487"/>
            <a:ext cx="170078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26364" y="3909059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% Accuracy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322576" y="3904487"/>
            <a:ext cx="51206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327148" y="3909059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-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834639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839211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60%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29584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534156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42%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224528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229100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28%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919472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924044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82%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14416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618988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85%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313932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61%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004304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008876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97%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99248" y="3904487"/>
            <a:ext cx="1298448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703820" y="3909059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61%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48640" y="5262372"/>
            <a:ext cx="45720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30" b="1">
                <a:solidFill>
                  <a:srgbClr val="1F4169"/>
                </a:solidFill>
                <a:latin typeface="Aptos"/>
              </a:rPr>
              <a:t>Key Observations from Estimation Team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48640" y="5545836"/>
            <a:ext cx="5468112" cy="420624"/>
          </a:xfrm>
          <a:prstGeom prst="round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640080" y="5609844"/>
            <a:ext cx="274320" cy="274320"/>
          </a:xfrm>
          <a:prstGeom prst="ellipse">
            <a:avLst/>
          </a:prstGeom>
          <a:solidFill>
            <a:srgbClr val="A6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40080" y="5605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5840" y="5601480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A61B2B"/>
                </a:solidFill>
                <a:latin typeface="Aptos"/>
              </a:rPr>
              <a:t>BAR</a:t>
            </a:r>
            <a:r>
              <a:rPr sz="840" b="1" dirty="0">
                <a:solidFill>
                  <a:srgbClr val="A61B2B"/>
                </a:solidFill>
                <a:latin typeface="Aptos"/>
              </a:rPr>
              <a:t> </a:t>
            </a:r>
            <a:r>
              <a:rPr sz="1000" b="1" dirty="0">
                <a:solidFill>
                  <a:srgbClr val="A61B2B"/>
                </a:solidFill>
                <a:latin typeface="Aptos"/>
              </a:rPr>
              <a:t>DIAMETER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084831" y="5608503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dirty="0">
                <a:solidFill>
                  <a:srgbClr val="26323F"/>
                </a:solidFill>
                <a:latin typeface="Aptos"/>
              </a:rPr>
              <a:t>Top bars specified as 16 mm in the drawing are sometimes read as 20 mm in the output.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144768" y="5545836"/>
            <a:ext cx="5468112" cy="420624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6236207" y="5609844"/>
            <a:ext cx="274320" cy="274320"/>
          </a:xfrm>
          <a:prstGeom prst="ellipse">
            <a:avLst/>
          </a:prstGeom>
          <a:solidFill>
            <a:srgbClr val="A67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236207" y="5605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601968" y="5601480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A67714"/>
                </a:solidFill>
                <a:latin typeface="Aptos"/>
              </a:rPr>
              <a:t>STIRRUPS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80960" y="5677753"/>
            <a:ext cx="379476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6323F"/>
                </a:solidFill>
                <a:latin typeface="Aptos"/>
              </a:rPr>
              <a:t>Number of stirrups calculation is incorrect in some cases.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48640" y="6030468"/>
            <a:ext cx="5468112" cy="420624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640080" y="6094476"/>
            <a:ext cx="274320" cy="274320"/>
          </a:xfrm>
          <a:prstGeom prst="ellipse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40080" y="6089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05840" y="608611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1F4169"/>
                </a:solidFill>
                <a:latin typeface="Aptos"/>
              </a:rPr>
              <a:t>SPACER</a:t>
            </a:r>
            <a:r>
              <a:rPr sz="840" b="1" dirty="0">
                <a:solidFill>
                  <a:srgbClr val="1F4169"/>
                </a:solidFill>
                <a:latin typeface="Aptos"/>
              </a:rPr>
              <a:t> </a:t>
            </a:r>
            <a:r>
              <a:rPr sz="1000" b="1" dirty="0">
                <a:solidFill>
                  <a:srgbClr val="1F4169"/>
                </a:solidFill>
                <a:latin typeface="Aptos"/>
              </a:rPr>
              <a:t>BARS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084831" y="6093136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dirty="0">
                <a:solidFill>
                  <a:srgbClr val="26323F"/>
                </a:solidFill>
                <a:latin typeface="Aptos"/>
              </a:rPr>
              <a:t>Spacer diameter and quantity are not consistently taken as per General Notes; same beam may be counted twice.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144768" y="6030468"/>
            <a:ext cx="5468112" cy="420624"/>
          </a:xfrm>
          <a:prstGeom prst="round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6236207" y="6094476"/>
            <a:ext cx="274320" cy="274320"/>
          </a:xfrm>
          <a:prstGeom prst="ellipse">
            <a:avLst/>
          </a:prstGeom>
          <a:solidFill>
            <a:srgbClr val="26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236207" y="6089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601968" y="608611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26702F"/>
                </a:solidFill>
                <a:latin typeface="Aptos"/>
              </a:rPr>
              <a:t>BEAM</a:t>
            </a:r>
            <a:r>
              <a:rPr sz="840" b="1" dirty="0">
                <a:solidFill>
                  <a:srgbClr val="26702F"/>
                </a:solidFill>
                <a:latin typeface="Aptos"/>
              </a:rPr>
              <a:t> </a:t>
            </a:r>
            <a:r>
              <a:rPr sz="1000" b="1" dirty="0">
                <a:solidFill>
                  <a:srgbClr val="26702F"/>
                </a:solidFill>
                <a:latin typeface="Aptos"/>
              </a:rPr>
              <a:t>SIZE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80960" y="6093135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6323F"/>
                </a:solidFill>
                <a:latin typeface="Aptos"/>
              </a:rPr>
              <a:t>Beam length is not always as per the framing plan, causing slight underestimation.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189720" y="6185916"/>
            <a:ext cx="242316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80" b="0">
                <a:solidFill>
                  <a:srgbClr val="566576"/>
                </a:solidFill>
                <a:latin typeface="Aptos"/>
              </a:rPr>
              <a:t>AI Construction Estimation  |  Steel Beam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A43127-1782-9D96-879B-E2ED149F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290" y="716044"/>
            <a:ext cx="6035563" cy="271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C26649-927D-4FC9-1586-152D0BF7C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29" y="3245609"/>
            <a:ext cx="4293977" cy="34911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B2B8B0-98A1-206C-8E95-48518FCAF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950" y="4242281"/>
            <a:ext cx="4383152" cy="2414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BB2B9D-E961-310D-9977-AAE0315A77A9}"/>
              </a:ext>
            </a:extLst>
          </p:cNvPr>
          <p:cNvSpPr txBox="1"/>
          <p:nvPr/>
        </p:nvSpPr>
        <p:spPr>
          <a:xfrm>
            <a:off x="4125096" y="169250"/>
            <a:ext cx="362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Cropped Beam Image Sent to Claude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E3F69-3B1C-7D0F-B352-BE9465E0DDC7}"/>
              </a:ext>
            </a:extLst>
          </p:cNvPr>
          <p:cNvSpPr txBox="1"/>
          <p:nvPr/>
        </p:nvSpPr>
        <p:spPr>
          <a:xfrm>
            <a:off x="7678994" y="3853284"/>
            <a:ext cx="245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Estimator Interpretation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21E6B-F97C-2B71-7E14-7C825E38C816}"/>
              </a:ext>
            </a:extLst>
          </p:cNvPr>
          <p:cNvSpPr txBox="1"/>
          <p:nvPr/>
        </p:nvSpPr>
        <p:spPr>
          <a:xfrm>
            <a:off x="219029" y="2890684"/>
            <a:ext cx="235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Claude/ Hybrid Answer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932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C29002-FC38-7C9C-E2DD-27D02852B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537" y="479116"/>
            <a:ext cx="5730256" cy="2674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283EFC-ADAA-AD73-A8B1-F8C132416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8" y="3182703"/>
            <a:ext cx="4092295" cy="3505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AA4779-83D9-783C-DDF3-F3A2D8A91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343" y="4447683"/>
            <a:ext cx="4275826" cy="1557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857284-D8E4-9E93-B899-A472E803E893}"/>
              </a:ext>
            </a:extLst>
          </p:cNvPr>
          <p:cNvSpPr txBox="1"/>
          <p:nvPr/>
        </p:nvSpPr>
        <p:spPr>
          <a:xfrm>
            <a:off x="3742149" y="44112"/>
            <a:ext cx="3805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Cropped Beam Image Sent to Claude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0FDD0-6740-E6E2-350A-9524AF050D7C}"/>
              </a:ext>
            </a:extLst>
          </p:cNvPr>
          <p:cNvSpPr txBox="1"/>
          <p:nvPr/>
        </p:nvSpPr>
        <p:spPr>
          <a:xfrm>
            <a:off x="7649498" y="3971131"/>
            <a:ext cx="2566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Estimator Interpretation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E5663C-5C08-BB0D-9DB6-5AE593092FD2}"/>
              </a:ext>
            </a:extLst>
          </p:cNvPr>
          <p:cNvSpPr txBox="1"/>
          <p:nvPr/>
        </p:nvSpPr>
        <p:spPr>
          <a:xfrm>
            <a:off x="265471" y="2727789"/>
            <a:ext cx="2750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Claude/ Hybrid Answer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39351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6D63B8-CBB4-607E-25CA-D501E840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709" y="931938"/>
            <a:ext cx="6058425" cy="2796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7F2D4F-A360-E0F4-5B6D-ED69D522E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59" y="4187578"/>
            <a:ext cx="4198984" cy="2415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E08765-BC64-ED33-CC11-4892290B8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588" y="4527671"/>
            <a:ext cx="3924640" cy="10135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268085-043B-64B6-678E-94A99A322699}"/>
              </a:ext>
            </a:extLst>
          </p:cNvPr>
          <p:cNvSpPr txBox="1"/>
          <p:nvPr/>
        </p:nvSpPr>
        <p:spPr>
          <a:xfrm>
            <a:off x="7433187" y="39055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Estimator Interpretation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1AF30-18CB-D80F-E5E2-1E8B3DE9D982}"/>
              </a:ext>
            </a:extLst>
          </p:cNvPr>
          <p:cNvSpPr txBox="1"/>
          <p:nvPr/>
        </p:nvSpPr>
        <p:spPr>
          <a:xfrm>
            <a:off x="4241975" y="205841"/>
            <a:ext cx="3708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Cropped Beam Image Sent to Claude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2DAE8-3642-E17D-394E-4F2453E9FEC6}"/>
              </a:ext>
            </a:extLst>
          </p:cNvPr>
          <p:cNvSpPr txBox="1"/>
          <p:nvPr/>
        </p:nvSpPr>
        <p:spPr>
          <a:xfrm>
            <a:off x="157996" y="3612174"/>
            <a:ext cx="2349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Claude/ Hybrid Answer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97957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06764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F4169"/>
                </a:solidFill>
                <a:latin typeface="Aptos Display"/>
              </a:rPr>
              <a:t>Why Estimation Automation Takes</a:t>
            </a:r>
            <a:r>
              <a:rPr lang="en-US" sz="2500" b="1" dirty="0">
                <a:solidFill>
                  <a:srgbClr val="1F4169"/>
                </a:solidFill>
                <a:latin typeface="Aptos Display"/>
              </a:rPr>
              <a:t> Significant</a:t>
            </a:r>
            <a:r>
              <a:rPr sz="2500" b="1" dirty="0">
                <a:solidFill>
                  <a:srgbClr val="1F4169"/>
                </a:solidFill>
                <a:latin typeface="Aptos Display"/>
              </a:rPr>
              <a:t>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576"/>
                </a:solidFill>
                <a:latin typeface="Aptos"/>
              </a:rPr>
              <a:t>Development effort varies by work item  •  Engineering understanding + diagnostics +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1. Engineering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Different drawings, structural rules, quantity logic and calculation methods for each work 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2. Drawing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130092"/>
            <a:ext cx="3090672" cy="567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dirty="0">
                <a:solidFill>
                  <a:srgbClr val="26323F"/>
                </a:solidFill>
                <a:latin typeface="Aptos"/>
              </a:rPr>
              <a:t>Understand how information is represented, connected and interpreted in real construction drawings.</a:t>
            </a:r>
            <a:r>
              <a:rPr lang="en-US" sz="1030" dirty="0">
                <a:solidFill>
                  <a:srgbClr val="26323F"/>
                </a:solidFill>
                <a:latin typeface="Aptos"/>
              </a:rPr>
              <a:t> This must be transferred to the System. </a:t>
            </a:r>
            <a:endParaRPr sz="1030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74152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3. Root-Cause &amp; 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84248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Trace incorrect results through multiple stages to identify the actual source of the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8488" y="3154680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55648" y="3264408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4. Solution &amp; Iteration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3657600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Implement possible solutions and test them across different drawing conditions and edge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154680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3264408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5. Validation &amp;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3657600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Validate outputs against engineering expectations before the automation can be trusted.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817352" cy="749808"/>
          </a:xfrm>
          <a:prstGeom prst="roundRect">
            <a:avLst/>
          </a:prstGeom>
          <a:solidFill>
            <a:srgbClr val="EBF2F9"/>
          </a:solidFill>
          <a:ln w="1143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48656"/>
            <a:ext cx="10360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169"/>
                </a:solidFill>
                <a:latin typeface="Aptos"/>
              </a:rPr>
              <a:t>Development time = Understanding  →  Diagnosis  →  Solution  →  Iteration  → 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66576"/>
                </a:solidFill>
                <a:latin typeface="Aptos"/>
              </a:rPr>
              <a:t>AI Construction Estimation  | 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</TotalTime>
  <Words>1187</Words>
  <Application>Microsoft Office PowerPoint</Application>
  <PresentationFormat>Widescreen</PresentationFormat>
  <Paragraphs>290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Nishanth Bilimagga Hanumantha</dc:creator>
  <cp:keywords/>
  <dc:description>generated using python-pptx</dc:description>
  <cp:lastModifiedBy>Nishanth Bilimagga Hanumantha</cp:lastModifiedBy>
  <cp:revision>64</cp:revision>
  <dcterms:created xsi:type="dcterms:W3CDTF">2013-01-27T09:14:16Z</dcterms:created>
  <dcterms:modified xsi:type="dcterms:W3CDTF">2026-09-09T13:08:33Z</dcterms:modified>
  <cp:category/>
</cp:coreProperties>
</file>