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0" r:id="rId3"/>
    <p:sldId id="271" r:id="rId4"/>
    <p:sldId id="259" r:id="rId5"/>
    <p:sldId id="260" r:id="rId6"/>
    <p:sldId id="261" r:id="rId7"/>
    <p:sldId id="276" r:id="rId8"/>
    <p:sldId id="263" r:id="rId9"/>
    <p:sldId id="278" r:id="rId10"/>
    <p:sldId id="264" r:id="rId11"/>
    <p:sldId id="268" r:id="rId12"/>
    <p:sldId id="257" r:id="rId13"/>
    <p:sldId id="272" r:id="rId14"/>
    <p:sldId id="274" r:id="rId15"/>
    <p:sldId id="275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257A0-5AE3-419B-9075-224093B6D73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1DFA9-2CBF-4529-B541-F4B26AC33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7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1DFA9-2CBF-4529-B541-F4B26AC335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4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13.201.15.89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195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982215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365D"/>
                </a:solidFill>
              </a:defRPr>
            </a:pPr>
            <a:r>
              <a:rPr dirty="0"/>
              <a:t>AI-DRIVEN</a:t>
            </a:r>
            <a:br>
              <a:rPr dirty="0"/>
            </a:br>
            <a:r>
              <a:rPr dirty="0"/>
              <a:t>ESTIMATION</a:t>
            </a:r>
            <a:r>
              <a:rPr lang="en-US" dirty="0"/>
              <a:t> AUTOMATION</a:t>
            </a:r>
            <a:endParaRPr dirty="0"/>
          </a:p>
          <a:p>
            <a:pPr>
              <a:defRPr sz="2400" b="1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/ VISION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9" y="4453128"/>
            <a:ext cx="502921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QUANTITIES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1. Construction Estimation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Major construction materials / work categories identified with the Estimation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1. Concrete</a:t>
            </a:r>
            <a:r>
              <a:rPr lang="en-US" dirty="0"/>
              <a:t> &amp; Shuttering</a:t>
            </a:r>
            <a:endParaRPr dirty="0"/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 &amp; Slab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2. Steel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3. Blockwork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Wall / block quantities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4. Tiles &amp; Granite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Floor / wall finishes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5. Plastering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Internal / external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6. Painting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Paintable surfaces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7. Waterproofing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Wet areas / terraces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8. Doors &amp; Windows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Openings / glazing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840480"/>
            <a:ext cx="3456432" cy="1024128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9. Earthwork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Excavation / filling quantities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10. Landscaping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Landscape / external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11. Plumbing &amp; Electrical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Plumbing / electrical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12. MS Grill 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Grill / metal fabrication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91072"/>
            <a:ext cx="34804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8365D"/>
                </a:solidFill>
              </a:defRPr>
            </a:pPr>
            <a:r>
              <a:rPr dirty="0"/>
              <a:t>Highlighted focus areas:  </a:t>
            </a:r>
            <a:r>
              <a:rPr lang="en-US" dirty="0"/>
              <a:t>High Priority - Steel</a:t>
            </a:r>
            <a:r>
              <a:rPr dirty="0"/>
              <a:t> </a:t>
            </a:r>
            <a:r>
              <a:rPr lang="en-US" dirty="0"/>
              <a:t>&amp; Concrete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2. Major Structural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t>The structural estimation framework is organized around these core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1. Beam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S</a:t>
            </a:r>
            <a:r>
              <a:rPr lang="en-US" dirty="0"/>
              <a:t>huttering</a:t>
            </a:r>
            <a:r>
              <a:rPr dirty="0"/>
              <a:t>✓</a:t>
            </a:r>
            <a:br>
              <a:rPr lang="en-US" dirty="0"/>
            </a:br>
            <a:r>
              <a:rPr lang="en-US" dirty="0"/>
              <a:t>Steel</a:t>
            </a:r>
            <a:r>
              <a:rPr lang="en-IN" dirty="0"/>
              <a:t>✓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2. Slab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  <a:endParaRPr lang="en-US" dirty="0"/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Shuttering ✓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Steel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3. Column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Structural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4. Foundation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Foundation estimation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5. Shear Wall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Vertical structural 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6. Retaining Wall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Concrete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Steel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D3741"/>
                </a:solidFill>
              </a:defRPr>
            </a:pPr>
            <a:r>
              <a:t>Earth-support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3588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5D"/>
                </a:solidFill>
              </a:defRPr>
            </a:pPr>
            <a:r>
              <a:rPr dirty="0"/>
              <a:t>Highlighted focus</a:t>
            </a:r>
            <a:r>
              <a:rPr lang="en-US" dirty="0"/>
              <a:t> areas</a:t>
            </a:r>
            <a:r>
              <a:rPr dirty="0"/>
              <a:t>:  </a:t>
            </a:r>
            <a:r>
              <a:rPr lang="en-US" dirty="0"/>
              <a:t>High Priority - </a:t>
            </a:r>
            <a:r>
              <a:rPr dirty="0"/>
              <a:t>Beam  </a:t>
            </a:r>
            <a:r>
              <a:rPr lang="en-US" dirty="0"/>
              <a:t>&amp;</a:t>
            </a:r>
            <a:r>
              <a:rPr dirty="0"/>
              <a:t>  Slab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6711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3. What Does Construction Estimation </a:t>
            </a:r>
            <a:r>
              <a:rPr lang="en-US" dirty="0"/>
              <a:t>Involve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From engineering information to measurable, reviewable quantities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Drawings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S</a:t>
            </a:r>
            <a:r>
              <a:rPr dirty="0"/>
              <a:t>chedules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N</a:t>
            </a:r>
            <a:r>
              <a:rPr dirty="0"/>
              <a:t>otes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R</a:t>
            </a:r>
            <a:r>
              <a:rPr dirty="0"/>
              <a:t>evisions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INTERPRET &amp; MEASURE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Geometry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D</a:t>
            </a:r>
            <a:r>
              <a:rPr dirty="0"/>
              <a:t>imensions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reas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L</a:t>
            </a:r>
            <a:r>
              <a:rPr dirty="0"/>
              <a:t>engths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C</a:t>
            </a:r>
            <a:r>
              <a:rPr dirty="0"/>
              <a:t>ounts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CALCULATE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 </a:t>
            </a:r>
            <a:r>
              <a:rPr dirty="0"/>
              <a:t>Engineering rules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F</a:t>
            </a:r>
            <a:r>
              <a:rPr dirty="0"/>
              <a:t>ormulas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P</a:t>
            </a:r>
            <a:r>
              <a:rPr dirty="0"/>
              <a:t>roject practices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VALIDATE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checks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nomalies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E</a:t>
            </a:r>
            <a:r>
              <a:rPr dirty="0"/>
              <a:t>stimator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4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take-off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BOQ-ready data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82" y="4709160"/>
            <a:ext cx="105057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8365D"/>
                </a:solidFill>
              </a:defRPr>
            </a:pPr>
            <a:r>
              <a:rPr dirty="0"/>
              <a:t>AI</a:t>
            </a:r>
            <a:r>
              <a:rPr lang="en-US" dirty="0"/>
              <a:t> Model aims to</a:t>
            </a:r>
            <a:r>
              <a:rPr dirty="0"/>
              <a:t> reduces repetitive effort — engineering logic remains central to quantity calculation.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4305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4. Current AI Development</a:t>
            </a:r>
            <a:r>
              <a:rPr lang="en-US" dirty="0"/>
              <a:t> Focus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CONCRETE — BEAM &amp; SLAB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Beam concrete</a:t>
            </a:r>
            <a:br>
              <a:rPr dirty="0"/>
            </a:br>
            <a:r>
              <a:rPr dirty="0"/>
              <a:t>• Beam shuttering</a:t>
            </a:r>
            <a:br>
              <a:rPr dirty="0"/>
            </a:br>
            <a:r>
              <a:rPr dirty="0"/>
              <a:t>• Slab concrete</a:t>
            </a:r>
            <a:br>
              <a:rPr dirty="0"/>
            </a:br>
            <a:r>
              <a:rPr dirty="0"/>
              <a:t>• Slab shuttering</a:t>
            </a:r>
            <a:br>
              <a:rPr dirty="0"/>
            </a:br>
            <a:r>
              <a:rPr dirty="0"/>
              <a:t>• Deterministic calculation</a:t>
            </a:r>
            <a:br>
              <a:rPr dirty="0"/>
            </a:br>
            <a:r>
              <a:rPr dirty="0"/>
              <a:t>• LLM assistance for ambiguous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STEEL — BEAM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t>• Reinforcement drawing understanding</a:t>
            </a:r>
            <a:br/>
            <a:r>
              <a:t>• Beam matching / ownership</a:t>
            </a:r>
            <a:br/>
            <a:r>
              <a:t>• Reinforcement parsing</a:t>
            </a:r>
            <a:br/>
            <a:r>
              <a:t>• Steel quantity + BBS</a:t>
            </a:r>
            <a:br/>
            <a:r>
              <a:t>• Hybrid CAD + Vision</a:t>
            </a:r>
            <a:br/>
            <a:r>
              <a:t>• Deterministic engineering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5. Concrete Beam &amp; Slab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1173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6874"/>
                </a:solidFill>
              </a:defRPr>
            </a:pPr>
            <a:r>
              <a:rPr lang="en-US" sz="1600" b="1" dirty="0"/>
              <a:t>Concrete Beam &amp; Slab Estimation Model Link - </a:t>
            </a:r>
            <a:r>
              <a:rPr lang="en-IN" sz="1600" b="1" u="sng" dirty="0">
                <a:solidFill>
                  <a:srgbClr val="5C6874"/>
                </a:solidFill>
                <a:hlinkClick r:id="rId2"/>
              </a:rPr>
              <a:t>http://13.201.15.89</a:t>
            </a:r>
            <a:endParaRPr sz="16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DXF framing drawing</a:t>
            </a:r>
            <a:br/>
            <a:r>
              <a:t>Member detection</a:t>
            </a:r>
            <a:br/>
            <a:r>
              <a:t>Geometry / dimensions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404872"/>
            <a:ext cx="59436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Concrete volume</a:t>
            </a:r>
            <a:br/>
            <a:r>
              <a:t>Shuttering area</a:t>
            </a:r>
            <a:br/>
            <a:r>
              <a:t>Rules &amp; calculations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0" y="2404872"/>
            <a:ext cx="59436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Excel quantity report</a:t>
            </a:r>
            <a:br/>
            <a:r>
              <a:t>Review sheet</a:t>
            </a:r>
            <a:br/>
            <a:r>
              <a:t>Flagged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332720" cy="168251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Standard drawings can be processed deterministically.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LLM assistance is used only when information such as slab thickness, tags, beam dimensions or bounded regions is missing / ambiguous.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Estimation Team validation demonstrated meaningful productivity improvement; quantity accuracy still requires further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6. Concrete POC -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79976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5592" y="1431036"/>
            <a:ext cx="342900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Current Model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02752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THIS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084831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Comparison with manual estimation (Estimation Team)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2468880"/>
            <a:ext cx="98755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248716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 dirty="0">
                <a:solidFill>
                  <a:srgbClr val="1F4169"/>
                </a:solidFill>
                <a:latin typeface="Aptos"/>
              </a:rPr>
              <a:t>Work Item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6504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3936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Concrete
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6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98648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Shuttering
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297180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299008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Slab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46504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73936" y="299008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69%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98648" y="299008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73%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347472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49300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Beam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46504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73936" y="349300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78%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71216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349300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81%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2084831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Reduction in time required for quantity take-off
(compared to manual method)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4568" y="26974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16168" y="2697480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2715768"/>
            <a:ext cx="1280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Slab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2743200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702F"/>
                </a:solidFill>
                <a:latin typeface="Aptos"/>
              </a:rPr>
              <a:t>29%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3044952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4568" y="336499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16168" y="3364992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0288" y="3383280"/>
            <a:ext cx="1280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Beam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3410712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702F"/>
                </a:solidFill>
                <a:latin typeface="Aptos"/>
              </a:rPr>
              <a:t>67%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1888" y="3712464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0183" y="2057400"/>
            <a:ext cx="3063240" cy="768096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130552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26702F"/>
                </a:solidFill>
                <a:latin typeface="Aptos"/>
              </a:rPr>
              <a:t>PROCESSING EFFORT REDUCED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386584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Automation delivers clear time savings for quantity take-off.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3" y="2953512"/>
            <a:ext cx="3063240" cy="768096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3026664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A61B2B"/>
                </a:solidFill>
                <a:latin typeface="Aptos"/>
              </a:rPr>
              <a:t>ACCURACY STILL REQUIRES IMPROVEMENT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3282696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Current quantities are not yet accurate enough for direct use.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30183" y="3849624"/>
            <a:ext cx="3063240" cy="768096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3922776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1F4169"/>
                </a:solidFill>
                <a:latin typeface="Aptos"/>
              </a:rPr>
              <a:t>MANUAL VERIFICATION IS CURRENTLY 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4178808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Results need to be reviewed and corrected by the Estimation Team.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51" y="5614416"/>
            <a:ext cx="11000232" cy="640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1219" y="5705856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POC CONCLUSION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96595" y="5733288"/>
            <a:ext cx="18288" cy="393192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43483" y="5717563"/>
            <a:ext cx="84124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F4169"/>
                </a:solidFill>
                <a:latin typeface="Aptos"/>
              </a:rPr>
              <a:t>Automation demonstrated </a:t>
            </a:r>
            <a:r>
              <a:rPr lang="en-US" sz="1050" b="1" dirty="0">
                <a:solidFill>
                  <a:srgbClr val="1F4169"/>
                </a:solidFill>
                <a:latin typeface="Aptos"/>
              </a:rPr>
              <a:t>considerable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 time savings; however, current accuracy requires further development and manual verification before production use.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6565392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>
                <a:solidFill>
                  <a:srgbClr val="566576"/>
                </a:solidFill>
                <a:latin typeface="Aptos"/>
              </a:rPr>
              <a:t>AI Construction Estimation  |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7. Steel Beam Estimation — Hybrid 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t>AI perception + deterministic engineering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DETERMINISTIC  ENGINEERING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rPr dirty="0"/>
              <a:t>Geometry</a:t>
            </a:r>
            <a:br>
              <a:rPr dirty="0"/>
            </a:br>
            <a:r>
              <a:rPr dirty="0"/>
              <a:t>Beam model</a:t>
            </a:r>
            <a:br>
              <a:rPr dirty="0"/>
            </a:br>
            <a:r>
              <a:rPr dirty="0"/>
              <a:t>Spans / </a:t>
            </a:r>
            <a:r>
              <a:rPr lang="en-US" dirty="0"/>
              <a:t>D</a:t>
            </a:r>
            <a:r>
              <a:rPr dirty="0"/>
              <a:t>imensions</a:t>
            </a:r>
            <a:br>
              <a:rPr dirty="0"/>
            </a:br>
            <a:r>
              <a:rPr dirty="0"/>
              <a:t>Cover</a:t>
            </a:r>
            <a:br>
              <a:rPr dirty="0"/>
            </a:br>
            <a:r>
              <a:rPr dirty="0"/>
              <a:t>Engineering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2044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AI VISION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rPr dirty="0"/>
              <a:t>Reinforcement groups</a:t>
            </a:r>
            <a:br>
              <a:rPr dirty="0"/>
            </a:br>
            <a:r>
              <a:rPr dirty="0"/>
              <a:t>Bar count / </a:t>
            </a:r>
            <a:r>
              <a:rPr lang="en-US" dirty="0"/>
              <a:t>D</a:t>
            </a:r>
            <a:r>
              <a:rPr dirty="0"/>
              <a:t>iameter</a:t>
            </a:r>
            <a:br>
              <a:rPr dirty="0"/>
            </a:br>
            <a:r>
              <a:rPr lang="en-US" dirty="0"/>
              <a:t>Top/ Bottom/ </a:t>
            </a:r>
            <a:r>
              <a:rPr dirty="0"/>
              <a:t>M</a:t>
            </a:r>
            <a:r>
              <a:rPr lang="en-US" dirty="0"/>
              <a:t>ain</a:t>
            </a:r>
            <a:r>
              <a:rPr dirty="0"/>
              <a:t> / E</a:t>
            </a:r>
            <a:r>
              <a:rPr lang="en-US" dirty="0"/>
              <a:t>xtra</a:t>
            </a:r>
            <a:br>
              <a:rPr dirty="0"/>
            </a:br>
            <a:r>
              <a:rPr dirty="0"/>
              <a:t>Support scope</a:t>
            </a:r>
            <a:br>
              <a:rPr dirty="0"/>
            </a:br>
            <a:r>
              <a:rPr dirty="0"/>
              <a:t>Visual stirrups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352044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HYBRID RESOLUTION</a:t>
            </a:r>
          </a:p>
          <a:p>
            <a:pPr algn="ctr"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rPr dirty="0"/>
              <a:t>Combine semantic interpretation with deterministic facts and project rules before quantity computation.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898648"/>
            <a:ext cx="292608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898648"/>
            <a:ext cx="292608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8006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365D"/>
                </a:solidFill>
              </a:defRPr>
            </a:pPr>
            <a:r>
              <a:t>VISION  “What reinforcement exists?”   →   HYBRID RESOLUTION   →   ENGINEERING  “How is it quantified?”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8788" y="6473952"/>
            <a:ext cx="16498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8686800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7. Steel Beam — Hybrid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2028" y="1060850"/>
            <a:ext cx="2761488" cy="475488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61756" y="1106570"/>
            <a:ext cx="2542032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DXF DRAWING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70116" y="1549907"/>
            <a:ext cx="2962656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1559051"/>
            <a:ext cx="2953512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663440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DETERMINISTIC CAD GEOMETRY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3558"/>
            <a:ext cx="4572000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CAD geometry  •  Beam </a:t>
            </a:r>
            <a:r>
              <a:rPr sz="1000" b="0" dirty="0">
                <a:solidFill>
                  <a:srgbClr val="26323F"/>
                </a:solidFill>
                <a:latin typeface="Aptos"/>
              </a:rPr>
              <a:t>geometry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 •  Span / engineering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1993392"/>
            <a:ext cx="4626864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RENDER / VISION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04288"/>
            <a:ext cx="4553712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Context + Detail View  →  Claude Vision  →  Semantic Reinforcement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30" b="1" dirty="0">
                <a:solidFill>
                  <a:srgbClr val="1F4169"/>
                </a:solidFill>
                <a:latin typeface="Aptos"/>
              </a:rPr>
              <a:t>ENGINEERING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60" b="0" dirty="0">
                <a:solidFill>
                  <a:srgbClr val="566576"/>
                </a:solidFill>
                <a:latin typeface="Aptos"/>
              </a:rPr>
              <a:t>Geometry • </a:t>
            </a:r>
            <a:r>
              <a:rPr sz="1000" b="0" dirty="0">
                <a:solidFill>
                  <a:srgbClr val="566576"/>
                </a:solidFill>
                <a:latin typeface="Aptos"/>
              </a:rPr>
              <a:t>cover</a:t>
            </a:r>
            <a:r>
              <a:rPr sz="860" b="0" dirty="0">
                <a:solidFill>
                  <a:srgbClr val="566576"/>
                </a:solidFill>
                <a:latin typeface="Aptos"/>
              </a:rPr>
              <a:t> • spacers • lengths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30" b="1" dirty="0">
                <a:solidFill>
                  <a:srgbClr val="1F4169"/>
                </a:solidFill>
                <a:latin typeface="Aptos"/>
              </a:rPr>
              <a:t>VISION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36976"/>
            <a:ext cx="462686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60" b="0" dirty="0">
                <a:solidFill>
                  <a:srgbClr val="566576"/>
                </a:solidFill>
                <a:latin typeface="Aptos"/>
              </a:rPr>
              <a:t>Bar count • diameter • main/extra • stirrups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584448"/>
            <a:ext cx="2962656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9048" y="3584448"/>
            <a:ext cx="2953512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25696" y="3767328"/>
            <a:ext cx="3346704" cy="576072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831336"/>
            <a:ext cx="3090672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HYBRID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050791"/>
            <a:ext cx="3090672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30" b="0">
                <a:solidFill>
                  <a:srgbClr val="FFFFFF"/>
                </a:solidFill>
                <a:latin typeface="Aptos"/>
              </a:rPr>
              <a:t>Combine vision + engineering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343400"/>
            <a:ext cx="0" cy="25603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4572000"/>
            <a:ext cx="4370832" cy="612648"/>
          </a:xfrm>
          <a:prstGeom prst="roundRect">
            <a:avLst/>
          </a:prstGeom>
          <a:solidFill>
            <a:srgbClr val="2F537D"/>
          </a:solidFill>
          <a:ln w="13970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654296"/>
            <a:ext cx="4059936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82896"/>
            <a:ext cx="4059936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Rules • calculations • quantities •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65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229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CUT LENGTH + 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9717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94581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PIECE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6069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0933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STEEL QUANTITY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888185" y="5189221"/>
            <a:ext cx="4187953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4734134" y="5203624"/>
            <a:ext cx="1365405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</p:cNvCxnSpPr>
          <p:nvPr/>
        </p:nvCxnSpPr>
        <p:spPr>
          <a:xfrm>
            <a:off x="6099539" y="5222602"/>
            <a:ext cx="1450947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98101" y="5980175"/>
            <a:ext cx="329184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08997" y="5742431"/>
            <a:ext cx="1024128" cy="475488"/>
          </a:xfrm>
          <a:prstGeom prst="roundRect">
            <a:avLst/>
          </a:prstGeom>
          <a:solidFill>
            <a:srgbClr val="EBF7ED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54717" y="5815583"/>
            <a:ext cx="932688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26702F"/>
                </a:solidFill>
                <a:latin typeface="Aptos"/>
              </a:rPr>
              <a:t>BBS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33125" y="5980175"/>
            <a:ext cx="347472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62309" y="5742431"/>
            <a:ext cx="1042415" cy="475488"/>
          </a:xfrm>
          <a:prstGeom prst="roundRect">
            <a:avLst/>
          </a:prstGeom>
          <a:solidFill>
            <a:srgbClr val="FFF8E1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08029" y="5815583"/>
            <a:ext cx="950976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80" b="1">
                <a:solidFill>
                  <a:srgbClr val="A67714"/>
                </a:solidFill>
                <a:latin typeface="Aptos"/>
              </a:rPr>
              <a:t>EXCEL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6620256"/>
            <a:ext cx="1938528" cy="10972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r"/>
            <a:r>
              <a:rPr sz="67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A38169-7FE9-879B-310C-17A293A58283}"/>
              </a:ext>
            </a:extLst>
          </p:cNvPr>
          <p:cNvCxnSpPr>
            <a:endCxn id="31" idx="0"/>
          </p:cNvCxnSpPr>
          <p:nvPr/>
        </p:nvCxnSpPr>
        <p:spPr>
          <a:xfrm>
            <a:off x="1888185" y="5440680"/>
            <a:ext cx="6196" cy="31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23F32F-0D69-1573-0198-8C05ED9BE9A6}"/>
              </a:ext>
            </a:extLst>
          </p:cNvPr>
          <p:cNvCxnSpPr>
            <a:endCxn id="32" idx="0"/>
          </p:cNvCxnSpPr>
          <p:nvPr/>
        </p:nvCxnSpPr>
        <p:spPr>
          <a:xfrm>
            <a:off x="4710732" y="5514519"/>
            <a:ext cx="1" cy="3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63226-9590-0BB8-BDA8-9272AC2EF64F}"/>
              </a:ext>
            </a:extLst>
          </p:cNvPr>
          <p:cNvCxnSpPr>
            <a:endCxn id="34" idx="0"/>
          </p:cNvCxnSpPr>
          <p:nvPr/>
        </p:nvCxnSpPr>
        <p:spPr>
          <a:xfrm>
            <a:off x="7513516" y="5533497"/>
            <a:ext cx="13569" cy="218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8. Steel Beam Model — Engineering Intelligence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3566160" cy="1783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Drawing Architecture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Identity • drawing sets • beam index • versioning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61872"/>
            <a:ext cx="3566160" cy="1783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Geometry Intelligence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Regions • sketches • text • leaders •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261872"/>
            <a:ext cx="3566160" cy="1783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Detail &amp; Match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Multi-view recognition • context • candidate ranking • 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46703"/>
            <a:ext cx="3566160" cy="1783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Ownership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Text / leader / bar / stirrup / shared ownership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46703"/>
            <a:ext cx="3566160" cy="1783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Reinforcement Parsing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Longitudinal bars • stirrups • side-face • laps • hooks • curtailment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346703"/>
            <a:ext cx="3566160" cy="1783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700" b="1">
                <a:solidFill>
                  <a:srgbClr val="1F4E79"/>
                </a:solidFill>
              </a:defRPr>
            </a:pPr>
            <a:r>
              <a:t>Quantity &amp; Output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Cut lengths • unit weights • steel quantity • BBS • 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8788" y="6473952"/>
            <a:ext cx="16498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76607" cy="7022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5"/>
            <a:ext cx="12176607" cy="14630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687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lang="en-US" dirty="0"/>
              <a:t>9</a:t>
            </a:r>
            <a:r>
              <a:rPr dirty="0"/>
              <a:t>. End-to-End </a:t>
            </a:r>
            <a:r>
              <a:rPr lang="en-US" dirty="0"/>
              <a:t>Steel </a:t>
            </a:r>
            <a:r>
              <a:rPr dirty="0"/>
              <a:t>Estimation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1.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Upload drawing package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2.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Understand drawing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3.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Extract geometry &amp;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4.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Identify components / material regions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5.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Route to estimation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4887" y="3640885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6.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AI / Vision where 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05623" y="3657601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7.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Hybrid resolution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3703320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8.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Deterministic quantity calculation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19553" y="3703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9.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Validation &amp;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377" y="3680461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10.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BOQ / BBS / Excel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73587" y="2468880"/>
            <a:ext cx="0" cy="114300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51081" y="6473952"/>
            <a:ext cx="17075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85039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50" b="1">
                <a:solidFill>
                  <a:srgbClr val="1F4169"/>
                </a:solidFill>
                <a:latin typeface="Aptos"/>
              </a:rPr>
              <a:t>10. Steel Beam — Internal Accuracy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8046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80" b="0">
                <a:solidFill>
                  <a:srgbClr val="566576"/>
                </a:solidFill>
                <a:latin typeface="Aptos"/>
              </a:rPr>
              <a:t>Current model testing result  •  Subject to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265176"/>
            <a:ext cx="2761488" cy="804672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9408" y="365760"/>
            <a:ext cx="2450592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Steel Beam Estimation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21792"/>
            <a:ext cx="252374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>
                <a:solidFill>
                  <a:srgbClr val="0041DC"/>
                </a:solidFill>
                <a:latin typeface="Aptos"/>
              </a:rPr>
              <a:t>http://13.127.104.99/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80160"/>
            <a:ext cx="9046267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850" y="1298448"/>
            <a:ext cx="9104769" cy="457200"/>
          </a:xfrm>
          <a:prstGeom prst="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7665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Beam BBS — Automation vs Estimated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91056"/>
            <a:ext cx="27432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0" b="0">
                <a:solidFill>
                  <a:srgbClr val="FFFFFF"/>
                </a:solidFill>
                <a:latin typeface="Aptos"/>
              </a:rPr>
              <a:t>Inizio 9th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53312"/>
            <a:ext cx="19385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80" b="0">
                <a:solidFill>
                  <a:srgbClr val="FFFFFF"/>
                </a:solidFill>
                <a:latin typeface="Aptos"/>
              </a:rPr>
              <a:t>All quantities in KGS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847088"/>
            <a:ext cx="170078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1856231"/>
            <a:ext cx="168249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1847088"/>
            <a:ext cx="51206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1856231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UOM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3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3672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28616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430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344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9248" y="1847088"/>
            <a:ext cx="1298448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1856231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225856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" y="226314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Estimated / Manual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225856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27148" y="226314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9211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1,561.1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415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9,375.2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29100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9,171.8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24044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2,871.9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4416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18988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12,026.0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13932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22,638.4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430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0887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1,152.0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99248" y="2258568"/>
            <a:ext cx="129844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3820" y="226314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58,796.3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267004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" y="267462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Automated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22576" y="267004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27148" y="267462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9211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931.1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958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3415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3,917.6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9100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dirty="0">
                <a:solidFill>
                  <a:srgbClr val="26323F"/>
                </a:solidFill>
                <a:latin typeface="Aptos"/>
              </a:rPr>
              <a:t>2,599.0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24044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3,374.8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14416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18988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10,205.7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13932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13,794.8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0430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0887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1,185.3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99248" y="2670048"/>
            <a:ext cx="1298448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03820" y="267462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702F"/>
                </a:solidFill>
                <a:latin typeface="Aptos"/>
              </a:rPr>
              <a:t>36,008.4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308152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6364" y="30861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Difference in quantity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22576" y="308152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27148" y="308610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9211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630.0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2958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3415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5,457.6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24528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29100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6,572.7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24044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502.9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14416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18988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1,820.3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13932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8,843.5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0430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00887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33.4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99248" y="308152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703820" y="308610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A61B2B"/>
                </a:solidFill>
                <a:latin typeface="Aptos"/>
              </a:rPr>
              <a:t>22,787.9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" y="3493008"/>
            <a:ext cx="170078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26364" y="349758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Error Scale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22576" y="3493008"/>
            <a:ext cx="51206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27148" y="349758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834639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39211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9584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3415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4528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29100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19472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24044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14416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618988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3932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04304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00887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99248" y="349300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03820" y="349758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" y="3904487"/>
            <a:ext cx="170078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6364" y="3909059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% Accuracy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22576" y="3904487"/>
            <a:ext cx="51206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27148" y="3909059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39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839211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958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53415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42%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4528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229100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28%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9472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924044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82%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14416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618988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85%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313932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0430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00887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97%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99248" y="3904487"/>
            <a:ext cx="1298448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703820" y="3909059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262372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>
                <a:solidFill>
                  <a:srgbClr val="1F4169"/>
                </a:solidFill>
                <a:latin typeface="Aptos"/>
              </a:rPr>
              <a:t>Key Observations from Estimation Team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5545836"/>
            <a:ext cx="5468112" cy="420624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0080" y="5609844"/>
            <a:ext cx="274320" cy="274320"/>
          </a:xfrm>
          <a:prstGeom prst="ellipse">
            <a:avLst/>
          </a:prstGeom>
          <a:solidFill>
            <a:srgbClr val="A6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40080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1B2B"/>
                </a:solidFill>
                <a:latin typeface="Aptos"/>
              </a:rPr>
              <a:t>BAR</a:t>
            </a:r>
            <a:r>
              <a:rPr sz="840" b="1" dirty="0">
                <a:solidFill>
                  <a:srgbClr val="A61B2B"/>
                </a:solidFill>
                <a:latin typeface="Aptos"/>
              </a:rPr>
              <a:t> </a:t>
            </a:r>
            <a:r>
              <a:rPr sz="1000" b="1" dirty="0">
                <a:solidFill>
                  <a:srgbClr val="A61B2B"/>
                </a:solidFill>
                <a:latin typeface="Aptos"/>
              </a:rPr>
              <a:t>DIAMETER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84831" y="5608503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Top bars specified as 16 mm in the drawing are sometimes read as 20 mm in the output.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44768" y="5545836"/>
            <a:ext cx="5468112" cy="420624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236207" y="5609844"/>
            <a:ext cx="274320" cy="274320"/>
          </a:xfrm>
          <a:prstGeom prst="ellipse">
            <a:avLst/>
          </a:prstGeom>
          <a:solidFill>
            <a:srgbClr val="A67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7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01968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7714"/>
                </a:solidFill>
                <a:latin typeface="Aptos"/>
              </a:rPr>
              <a:t>STIRRUPS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80960" y="5677753"/>
            <a:ext cx="37947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Number of stirrups calculation is incorrect in some cases.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640" y="6030468"/>
            <a:ext cx="5468112" cy="420624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640080" y="6094476"/>
            <a:ext cx="274320" cy="274320"/>
          </a:xfrm>
          <a:prstGeom prst="ellipse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40080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05840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4169"/>
                </a:solidFill>
                <a:latin typeface="Aptos"/>
              </a:rPr>
              <a:t>SPACER</a:t>
            </a:r>
            <a:r>
              <a:rPr sz="84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000" b="1" dirty="0">
                <a:solidFill>
                  <a:srgbClr val="1F4169"/>
                </a:solidFill>
                <a:latin typeface="Aptos"/>
              </a:rPr>
              <a:t>BARS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84831" y="6093136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Spacer diameter and quantity are not consistently taken as per General Notes; same beam may be counted twice.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44768" y="6030468"/>
            <a:ext cx="5468112" cy="420624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6236207" y="6094476"/>
            <a:ext cx="274320" cy="274320"/>
          </a:xfrm>
          <a:prstGeom prst="ellipse">
            <a:avLst/>
          </a:prstGeom>
          <a:solidFill>
            <a:srgbClr val="26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36207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01968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26702F"/>
                </a:solidFill>
                <a:latin typeface="Aptos"/>
              </a:rPr>
              <a:t>BEAM</a:t>
            </a:r>
            <a:r>
              <a:rPr sz="840" b="1" dirty="0">
                <a:solidFill>
                  <a:srgbClr val="26702F"/>
                </a:solidFill>
                <a:latin typeface="Aptos"/>
              </a:rPr>
              <a:t> </a:t>
            </a:r>
            <a:r>
              <a:rPr sz="1000" b="1" dirty="0">
                <a:solidFill>
                  <a:srgbClr val="26702F"/>
                </a:solidFill>
                <a:latin typeface="Aptos"/>
              </a:rPr>
              <a:t>SIZE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0" y="6093135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Beam length is not always as per the framing plan, causing slight underestimation.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89720" y="6185916"/>
            <a:ext cx="2423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80" b="0">
                <a:solidFill>
                  <a:srgbClr val="566576"/>
                </a:solidFill>
                <a:latin typeface="Aptos"/>
              </a:rPr>
              <a:t>AI Construction Estimation  |  Steel Beam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A43127-1782-9D96-879B-E2ED149F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90" y="716044"/>
            <a:ext cx="6035563" cy="271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C26649-927D-4FC9-1586-152D0BF7C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29" y="3245609"/>
            <a:ext cx="4293977" cy="3491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2B8B0-98A1-206C-8E95-48518FCAF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50" y="4242281"/>
            <a:ext cx="4383152" cy="241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B2B9D-E961-310D-9977-AAE0315A77A9}"/>
              </a:ext>
            </a:extLst>
          </p:cNvPr>
          <p:cNvSpPr txBox="1"/>
          <p:nvPr/>
        </p:nvSpPr>
        <p:spPr>
          <a:xfrm>
            <a:off x="4125096" y="169250"/>
            <a:ext cx="362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Cropped Beam Image Sent to Claude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3F69-3B1C-7D0F-B352-BE9465E0DDC7}"/>
              </a:ext>
            </a:extLst>
          </p:cNvPr>
          <p:cNvSpPr txBox="1"/>
          <p:nvPr/>
        </p:nvSpPr>
        <p:spPr>
          <a:xfrm>
            <a:off x="7678994" y="3853284"/>
            <a:ext cx="2453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Estimator Interpretation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21E6B-F97C-2B71-7E14-7C825E38C816}"/>
              </a:ext>
            </a:extLst>
          </p:cNvPr>
          <p:cNvSpPr txBox="1"/>
          <p:nvPr/>
        </p:nvSpPr>
        <p:spPr>
          <a:xfrm>
            <a:off x="219029" y="2890684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Claude/ Hybrid Answer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932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29002-FC38-7C9C-E2DD-27D02852B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37" y="479116"/>
            <a:ext cx="5730256" cy="2674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83EFC-ADAA-AD73-A8B1-F8C13241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8" y="3182703"/>
            <a:ext cx="4092295" cy="3505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A4779-83D9-783C-DDF3-F3A2D8A9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43" y="4447683"/>
            <a:ext cx="4275826" cy="1557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857284-D8E4-9E93-B899-A472E803E893}"/>
              </a:ext>
            </a:extLst>
          </p:cNvPr>
          <p:cNvSpPr txBox="1"/>
          <p:nvPr/>
        </p:nvSpPr>
        <p:spPr>
          <a:xfrm>
            <a:off x="3742149" y="44112"/>
            <a:ext cx="3805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FDD0-6740-E6E2-350A-9524AF050D7C}"/>
              </a:ext>
            </a:extLst>
          </p:cNvPr>
          <p:cNvSpPr txBox="1"/>
          <p:nvPr/>
        </p:nvSpPr>
        <p:spPr>
          <a:xfrm>
            <a:off x="7649498" y="3971131"/>
            <a:ext cx="256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Estimator Interpretation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5663C-5C08-BB0D-9DB6-5AE593092FD2}"/>
              </a:ext>
            </a:extLst>
          </p:cNvPr>
          <p:cNvSpPr txBox="1"/>
          <p:nvPr/>
        </p:nvSpPr>
        <p:spPr>
          <a:xfrm>
            <a:off x="265471" y="2727789"/>
            <a:ext cx="2750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39351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D63B8-CBB4-607E-25CA-D501E840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09" y="931938"/>
            <a:ext cx="6058425" cy="27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F2D4F-A360-E0F4-5B6D-ED69D522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9" y="4187578"/>
            <a:ext cx="4198984" cy="241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08765-BC64-ED33-CC11-4892290B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88" y="4527671"/>
            <a:ext cx="3924640" cy="1013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268085-043B-64B6-678E-94A99A322699}"/>
              </a:ext>
            </a:extLst>
          </p:cNvPr>
          <p:cNvSpPr txBox="1"/>
          <p:nvPr/>
        </p:nvSpPr>
        <p:spPr>
          <a:xfrm>
            <a:off x="7433187" y="3905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Estimator Interpretation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AF30-18CB-D80F-E5E2-1E8B3DE9D982}"/>
              </a:ext>
            </a:extLst>
          </p:cNvPr>
          <p:cNvSpPr txBox="1"/>
          <p:nvPr/>
        </p:nvSpPr>
        <p:spPr>
          <a:xfrm>
            <a:off x="4241975" y="205841"/>
            <a:ext cx="3708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2DAE8-3642-E17D-394E-4F2453E9FEC6}"/>
              </a:ext>
            </a:extLst>
          </p:cNvPr>
          <p:cNvSpPr txBox="1"/>
          <p:nvPr/>
        </p:nvSpPr>
        <p:spPr>
          <a:xfrm>
            <a:off x="157996" y="3612174"/>
            <a:ext cx="234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9795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0676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4169"/>
                </a:solidFill>
                <a:latin typeface="Aptos Display"/>
              </a:rPr>
              <a:t>Why Estimation Automation Takes</a:t>
            </a:r>
            <a:r>
              <a:rPr lang="en-US" sz="2500" b="1" dirty="0">
                <a:solidFill>
                  <a:srgbClr val="1F4169"/>
                </a:solidFill>
                <a:latin typeface="Aptos Display"/>
              </a:rPr>
              <a:t> Significant</a:t>
            </a:r>
            <a:r>
              <a:rPr sz="2500" b="1" dirty="0">
                <a:solidFill>
                  <a:srgbClr val="1F4169"/>
                </a:solidFill>
                <a:latin typeface="Aptos Display"/>
              </a:rPr>
              <a:t>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576"/>
                </a:solidFill>
                <a:latin typeface="Aptos"/>
              </a:rPr>
              <a:t>Development effort varies by work item  •  Engineering understanding + diagnostics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1. Engineering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Different drawings, structural rules, quantity logic and calculation methods for each work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2. Drawing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130092"/>
            <a:ext cx="3090672" cy="567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dirty="0">
                <a:solidFill>
                  <a:srgbClr val="26323F"/>
                </a:solidFill>
                <a:latin typeface="Aptos"/>
              </a:rPr>
              <a:t>Understand how information is represented, connected and interpreted in real construction drawings.</a:t>
            </a:r>
            <a:r>
              <a:rPr lang="en-US" sz="1030" dirty="0">
                <a:solidFill>
                  <a:srgbClr val="26323F"/>
                </a:solidFill>
                <a:latin typeface="Aptos"/>
              </a:rPr>
              <a:t> This must be transferred to the System. </a:t>
            </a:r>
            <a:endParaRPr sz="1030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74152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3. Root-Cause &amp;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Trace incorrect results through multiple stages to identify the actual source of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4. Solution &amp;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Implement possible solutions and test them across different drawing conditions and edge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5. Validation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Validate outputs against engineering expectations before the automation can be trusted.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17352" cy="749808"/>
          </a:xfrm>
          <a:prstGeom prst="roundRect">
            <a:avLst/>
          </a:prstGeom>
          <a:solidFill>
            <a:srgbClr val="EBF2F9"/>
          </a:solidFill>
          <a:ln w="1143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10360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169"/>
                </a:solidFill>
                <a:latin typeface="Aptos"/>
              </a:rPr>
              <a:t>Development time = Understanding  →  Diagnosis  →  Solution  →  Iteration  → 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66576"/>
                </a:solidFill>
                <a:latin typeface="Aptos"/>
              </a:rPr>
              <a:t>AI Construction Estimation  | 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1364</Words>
  <Application>Microsoft Office PowerPoint</Application>
  <PresentationFormat>Widescreen</PresentationFormat>
  <Paragraphs>313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 Bilimagga Hanumantha</dc:creator>
  <cp:keywords/>
  <dc:description>generated using python-pptx</dc:description>
  <cp:lastModifiedBy>Nishanth Bilimagga Hanumantha</cp:lastModifiedBy>
  <cp:revision>62</cp:revision>
  <dcterms:created xsi:type="dcterms:W3CDTF">2013-01-27T09:14:16Z</dcterms:created>
  <dcterms:modified xsi:type="dcterms:W3CDTF">2026-09-09T13:05:38Z</dcterms:modified>
  <cp:category/>
</cp:coreProperties>
</file>