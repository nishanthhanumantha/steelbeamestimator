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71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72" r:id="rId13"/>
    <p:sldId id="274" r:id="rId14"/>
    <p:sldId id="275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13.201.15.89/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13.127.104.99/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1955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5982215" cy="16927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8365D"/>
                </a:solidFill>
              </a:defRPr>
            </a:pPr>
            <a:r>
              <a:rPr dirty="0"/>
              <a:t>AI-DRIVEN</a:t>
            </a:r>
            <a:br>
              <a:rPr dirty="0"/>
            </a:br>
            <a:r>
              <a:rPr dirty="0"/>
              <a:t>ESTIMATION</a:t>
            </a:r>
            <a:r>
              <a:rPr lang="en-US" dirty="0"/>
              <a:t> AUTOMATION</a:t>
            </a:r>
            <a:endParaRPr dirty="0"/>
          </a:p>
          <a:p>
            <a:pPr>
              <a:defRPr sz="2400" b="1">
                <a:solidFill>
                  <a:srgbClr val="1F4E79"/>
                </a:solidFill>
              </a:defRPr>
            </a:pP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914400" y="3977639"/>
            <a:ext cx="2103120" cy="9601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DRAWINGS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4453128"/>
            <a:ext cx="502920" cy="0"/>
          </a:xfrm>
          <a:prstGeom prst="line">
            <a:avLst/>
          </a:prstGeom>
          <a:ln w="3556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566160" y="3977639"/>
            <a:ext cx="2103120" cy="9601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AI / VISION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79" y="4453128"/>
            <a:ext cx="502921" cy="0"/>
          </a:xfrm>
          <a:prstGeom prst="line">
            <a:avLst/>
          </a:prstGeom>
          <a:ln w="3556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17920" y="3977639"/>
            <a:ext cx="2103120" cy="9601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ENGINEERING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21040" y="4453128"/>
            <a:ext cx="502920" cy="0"/>
          </a:xfrm>
          <a:prstGeom prst="line">
            <a:avLst/>
          </a:prstGeom>
          <a:ln w="3556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977639"/>
            <a:ext cx="2103120" cy="9601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QUANTITIES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t>1. Construction Estimation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6874"/>
                </a:solidFill>
              </a:defRPr>
            </a:pPr>
            <a:r>
              <a:rPr dirty="0"/>
              <a:t>Major construction materials / work categories identified with the Estimation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3456432" cy="1024128"/>
          </a:xfrm>
          <a:prstGeom prst="roundRect">
            <a:avLst/>
          </a:prstGeom>
          <a:solidFill>
            <a:srgbClr val="18365D"/>
          </a:solidFill>
          <a:ln w="15240">
            <a:solidFill>
              <a:srgbClr val="18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FFFFFF"/>
                </a:solidFill>
              </a:defRPr>
            </a:pPr>
            <a:r>
              <a:rPr dirty="0"/>
              <a:t>1. Concrete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rPr dirty="0"/>
              <a:t>HIGH PRIORITY  |  </a:t>
            </a:r>
            <a:r>
              <a:rPr lang="en-US" dirty="0"/>
              <a:t>C</a:t>
            </a:r>
            <a:r>
              <a:rPr dirty="0"/>
              <a:t>urrent develop</a:t>
            </a:r>
            <a:r>
              <a:rPr lang="en-US" dirty="0"/>
              <a:t>ment Focus | Beam &amp; Sab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4251959" y="1353312"/>
            <a:ext cx="3456432" cy="1024128"/>
          </a:xfrm>
          <a:prstGeom prst="roundRect">
            <a:avLst/>
          </a:prstGeom>
          <a:solidFill>
            <a:srgbClr val="18365D"/>
          </a:solidFill>
          <a:ln w="15240">
            <a:solidFill>
              <a:srgbClr val="18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FFFFFF"/>
                </a:solidFill>
              </a:defRPr>
            </a:pPr>
            <a:r>
              <a:rPr dirty="0"/>
              <a:t>2. Steel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rPr dirty="0"/>
              <a:t>HIGH PRIORITY  |  </a:t>
            </a:r>
            <a:r>
              <a:rPr lang="en-US" dirty="0"/>
              <a:t>C</a:t>
            </a:r>
            <a:r>
              <a:rPr dirty="0"/>
              <a:t>urrent develop</a:t>
            </a:r>
            <a:r>
              <a:rPr lang="en-US" dirty="0"/>
              <a:t>ment Focus | Beam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8001000" y="1353312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3. Blockwork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Wall / block quantities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96896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4. Tiles &amp; Granite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Floor / wall finishes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2596896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5. Plastering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Internal / external surfaces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596896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6. Painting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Paintable surfaces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40480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7. Waterproofing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Wet areas / terraces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59" y="3840480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8. Doors &amp; Windows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Openings / glazing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3840480"/>
            <a:ext cx="3456432" cy="1024128"/>
          </a:xfrm>
          <a:prstGeom prst="roundRect">
            <a:avLst/>
          </a:prstGeom>
          <a:solidFill>
            <a:srgbClr val="EBF2F9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9. Earthwork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Excavation / filling quantities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84064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10. Landscaping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Landscape / external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59" y="5084064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11. Plumbing &amp; Electrical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Plumbing / electrical works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5084064"/>
            <a:ext cx="3456432" cy="1024128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118872" rtlCol="0" anchor="ctr"/>
          <a:lstStyle/>
          <a:p>
            <a:pPr algn="ctr">
              <a:defRPr sz="1550" b="1">
                <a:solidFill>
                  <a:srgbClr val="1F4E79"/>
                </a:solidFill>
              </a:defRPr>
            </a:pPr>
            <a:r>
              <a:t>12. MS Grill Work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2D3741"/>
                </a:solidFill>
              </a:defRPr>
            </a:pPr>
            <a:r>
              <a:t>Grill / metal fabrication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91072"/>
            <a:ext cx="348044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18365D"/>
                </a:solidFill>
              </a:defRPr>
            </a:pPr>
            <a:r>
              <a:rPr dirty="0"/>
              <a:t>Highlighted focus areas:  </a:t>
            </a:r>
            <a:r>
              <a:rPr lang="en-US" dirty="0"/>
              <a:t>High Priority - Steel</a:t>
            </a:r>
            <a:r>
              <a:rPr dirty="0"/>
              <a:t> </a:t>
            </a:r>
            <a:r>
              <a:rPr lang="en-US" dirty="0"/>
              <a:t>&amp; Concrete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9601200" y="6473952"/>
            <a:ext cx="2057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t>AI Construction Estimation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t>2. Major Structural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6874"/>
                </a:solidFill>
              </a:defRPr>
            </a:pPr>
            <a:r>
              <a:t>The structural estimation framework is organized around these core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3456432" cy="1691640"/>
          </a:xfrm>
          <a:prstGeom prst="roundRect">
            <a:avLst/>
          </a:prstGeom>
          <a:solidFill>
            <a:srgbClr val="18365D"/>
          </a:solidFill>
          <a:ln w="15240">
            <a:solidFill>
              <a:srgbClr val="18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Beam</a:t>
            </a:r>
          </a:p>
          <a:p>
            <a:pPr algn="l"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Concrete ✓</a:t>
            </a:r>
          </a:p>
          <a:p>
            <a:pPr algn="l"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Steel ✓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Current development focus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353312"/>
            <a:ext cx="3456432" cy="1691640"/>
          </a:xfrm>
          <a:prstGeom prst="roundRect">
            <a:avLst/>
          </a:prstGeom>
          <a:solidFill>
            <a:srgbClr val="18365D"/>
          </a:solidFill>
          <a:ln w="15240">
            <a:solidFill>
              <a:srgbClr val="18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2. Slab</a:t>
            </a:r>
          </a:p>
          <a:p>
            <a:pPr algn="l"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rPr dirty="0"/>
              <a:t>Concrete ✓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rPr dirty="0"/>
              <a:t>Current development focus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353312"/>
            <a:ext cx="3456432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3. Column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Concrete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Steel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Structural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56432"/>
            <a:ext cx="3456432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4. Foundation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Concrete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Steel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Foundation estimation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3456432"/>
            <a:ext cx="3456432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5. Shear Wall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Concrete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Steel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Vertical structural wall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3456432"/>
            <a:ext cx="3456432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6. Retaining Wall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Concrete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Steel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2D3741"/>
                </a:solidFill>
              </a:defRPr>
            </a:pPr>
            <a:r>
              <a:t>Earth-support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35885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365D"/>
                </a:solidFill>
              </a:defRPr>
            </a:pPr>
            <a:r>
              <a:rPr dirty="0"/>
              <a:t>Highlighted focus</a:t>
            </a:r>
            <a:r>
              <a:rPr lang="en-US" dirty="0"/>
              <a:t> areas</a:t>
            </a:r>
            <a:r>
              <a:rPr dirty="0"/>
              <a:t>:  </a:t>
            </a:r>
            <a:r>
              <a:rPr lang="en-US" dirty="0"/>
              <a:t>High Priority - </a:t>
            </a:r>
            <a:r>
              <a:rPr dirty="0"/>
              <a:t>Beam  </a:t>
            </a:r>
            <a:r>
              <a:rPr lang="en-US" dirty="0"/>
              <a:t>&amp;</a:t>
            </a:r>
            <a:r>
              <a:rPr dirty="0"/>
              <a:t>  Slab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73952"/>
            <a:ext cx="2057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t>AI Construction Estimation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67113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rPr dirty="0"/>
              <a:t>3. What Does Construction Estimation </a:t>
            </a:r>
            <a:r>
              <a:rPr lang="en-US" dirty="0"/>
              <a:t>Involve</a:t>
            </a:r>
            <a:r>
              <a:rPr dirty="0"/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932688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6874"/>
                </a:solidFill>
              </a:defRPr>
            </a:pPr>
            <a:r>
              <a:rPr dirty="0"/>
              <a:t>From engineering information to measurable, reviewable quantities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28800"/>
            <a:ext cx="1874519" cy="1828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INPUT</a:t>
            </a:r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lang="en-IN" dirty="0"/>
              <a:t>• </a:t>
            </a:r>
            <a:r>
              <a:rPr dirty="0"/>
              <a:t>Drawings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S</a:t>
            </a:r>
            <a:r>
              <a:rPr dirty="0"/>
              <a:t>chedules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N</a:t>
            </a:r>
            <a:r>
              <a:rPr dirty="0"/>
              <a:t>otes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R</a:t>
            </a:r>
            <a:r>
              <a:rPr dirty="0"/>
              <a:t>evisions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743200"/>
            <a:ext cx="502920" cy="0"/>
          </a:xfrm>
          <a:prstGeom prst="line">
            <a:avLst/>
          </a:prstGeom>
          <a:ln w="3302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828800"/>
            <a:ext cx="1874519" cy="18288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INTERPRET &amp; MEASURE</a:t>
            </a:r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lang="en-IN" dirty="0"/>
              <a:t>• </a:t>
            </a:r>
            <a:r>
              <a:rPr dirty="0"/>
              <a:t>Geometry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D</a:t>
            </a:r>
            <a:r>
              <a:rPr dirty="0"/>
              <a:t>imensions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A</a:t>
            </a:r>
            <a:r>
              <a:rPr dirty="0"/>
              <a:t>reas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L</a:t>
            </a:r>
            <a:r>
              <a:rPr dirty="0"/>
              <a:t>engths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C</a:t>
            </a:r>
            <a:r>
              <a:rPr dirty="0"/>
              <a:t>ounts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743200"/>
            <a:ext cx="502920" cy="0"/>
          </a:xfrm>
          <a:prstGeom prst="line">
            <a:avLst/>
          </a:prstGeom>
          <a:ln w="3302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66360" y="1828800"/>
            <a:ext cx="1874519" cy="18288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CALCULATE</a:t>
            </a:r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lang="en-IN" dirty="0"/>
              <a:t>•  </a:t>
            </a:r>
            <a:r>
              <a:rPr dirty="0"/>
              <a:t>Engineering rules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F</a:t>
            </a:r>
            <a:r>
              <a:rPr dirty="0"/>
              <a:t>ormulas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P</a:t>
            </a:r>
            <a:r>
              <a:rPr dirty="0"/>
              <a:t>roject practices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743200"/>
            <a:ext cx="502920" cy="0"/>
          </a:xfrm>
          <a:prstGeom prst="line">
            <a:avLst/>
          </a:prstGeom>
          <a:ln w="3302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43800" y="1828800"/>
            <a:ext cx="1874519" cy="18288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VALIDATE</a:t>
            </a:r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lang="en-IN" dirty="0"/>
              <a:t>• </a:t>
            </a:r>
            <a:r>
              <a:rPr dirty="0"/>
              <a:t>Quantity checks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A</a:t>
            </a:r>
            <a:r>
              <a:rPr dirty="0"/>
              <a:t>nomalies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lang="en-US" dirty="0"/>
              <a:t>E</a:t>
            </a:r>
            <a:r>
              <a:rPr dirty="0"/>
              <a:t>stimator review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0" y="2743200"/>
            <a:ext cx="502920" cy="0"/>
          </a:xfrm>
          <a:prstGeom prst="line">
            <a:avLst/>
          </a:prstGeom>
          <a:ln w="3302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21240" y="1828800"/>
            <a:ext cx="1874519" cy="1828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OUTPUT</a:t>
            </a:r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lang="en-IN" dirty="0"/>
              <a:t>• </a:t>
            </a:r>
            <a:r>
              <a:rPr dirty="0"/>
              <a:t>Quantity take-off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BOQ-ready data </a:t>
            </a:r>
            <a:endParaRPr lang="en-US" dirty="0"/>
          </a:p>
          <a:p>
            <a:pPr>
              <a:spcBef>
                <a:spcPts val="500"/>
              </a:spcBef>
              <a:defRPr sz="1300">
                <a:solidFill>
                  <a:srgbClr val="2D3741"/>
                </a:solidFill>
              </a:defRPr>
            </a:pPr>
            <a:r>
              <a:rPr dirty="0"/>
              <a:t>• Excel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8365D"/>
                </a:solidFill>
              </a:defRPr>
            </a:pPr>
            <a:r>
              <a:t>AI reduces repetitive interpretation effort — engineering logic remains central to quantity calculation.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t>AI Construction Estimation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rPr dirty="0"/>
              <a:t>4. Current AI Development — What Has Been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5303520" cy="2971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rPr dirty="0"/>
              <a:t>CONCRETE — BEAM &amp; SLAB</a:t>
            </a:r>
          </a:p>
          <a:p>
            <a:pPr>
              <a:spcBef>
                <a:spcPts val="500"/>
              </a:spcBef>
              <a:defRPr sz="1700">
                <a:solidFill>
                  <a:srgbClr val="2D3741"/>
                </a:solidFill>
              </a:defRPr>
            </a:pPr>
            <a:r>
              <a:rPr dirty="0"/>
              <a:t>• Beam concrete</a:t>
            </a:r>
            <a:br>
              <a:rPr dirty="0"/>
            </a:br>
            <a:r>
              <a:rPr dirty="0"/>
              <a:t>• Beam shuttering</a:t>
            </a:r>
            <a:br>
              <a:rPr dirty="0"/>
            </a:br>
            <a:r>
              <a:rPr dirty="0"/>
              <a:t>• Slab concrete</a:t>
            </a:r>
            <a:br>
              <a:rPr dirty="0"/>
            </a:br>
            <a:r>
              <a:rPr dirty="0"/>
              <a:t>• Slab shuttering</a:t>
            </a:r>
            <a:br>
              <a:rPr dirty="0"/>
            </a:br>
            <a:r>
              <a:rPr dirty="0"/>
              <a:t>• Deterministic calculation</a:t>
            </a:r>
            <a:br>
              <a:rPr dirty="0"/>
            </a:br>
            <a:r>
              <a:rPr dirty="0"/>
              <a:t>• LLM assistance for ambiguous inputs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303520" cy="2971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STEEL — BEAM</a:t>
            </a:r>
          </a:p>
          <a:p>
            <a:pPr>
              <a:spcBef>
                <a:spcPts val="500"/>
              </a:spcBef>
              <a:defRPr sz="1700">
                <a:solidFill>
                  <a:srgbClr val="2D3741"/>
                </a:solidFill>
              </a:defRPr>
            </a:pPr>
            <a:r>
              <a:t>• Reinforcement drawing understanding</a:t>
            </a:r>
            <a:br/>
            <a:r>
              <a:t>• Beam matching / ownership</a:t>
            </a:r>
            <a:br/>
            <a:r>
              <a:t>• Reinforcement parsing</a:t>
            </a:r>
            <a:br/>
            <a:r>
              <a:t>• Steel quantity + BBS</a:t>
            </a:r>
            <a:br/>
            <a:r>
              <a:t>• Hybrid CAD + Vision</a:t>
            </a:r>
            <a:br/>
            <a:r>
              <a:t>• Deterministic engineering 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8365D"/>
                </a:solidFill>
              </a:defRPr>
            </a:pPr>
            <a:r>
              <a:t>Common foundation: reusable drawing intelligence  →  material/component-specific estimation engines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t>AI Construction Estimation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rPr dirty="0"/>
              <a:t>5. Concrete Beam &amp; Slab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932688"/>
            <a:ext cx="111739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6874"/>
                </a:solidFill>
              </a:defRPr>
            </a:pPr>
            <a:r>
              <a:rPr lang="en-US" sz="1600" b="1" dirty="0"/>
              <a:t>Concrete Beam &amp; Slab Estimation Model Link - </a:t>
            </a:r>
            <a:r>
              <a:rPr lang="en-IN" sz="1600" b="1" u="sng" dirty="0">
                <a:solidFill>
                  <a:srgbClr val="5C6874"/>
                </a:solidFill>
                <a:hlinkClick r:id="rId2"/>
              </a:rPr>
              <a:t>http://13.201.15.89</a:t>
            </a:r>
            <a:endParaRPr sz="1600" b="1" dirty="0"/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3520440" cy="196596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DRAWING</a:t>
            </a:r>
          </a:p>
          <a:p>
            <a:pPr>
              <a:spcBef>
                <a:spcPts val="500"/>
              </a:spcBef>
              <a:defRPr sz="1600">
                <a:solidFill>
                  <a:srgbClr val="2D3741"/>
                </a:solidFill>
              </a:defRPr>
            </a:pPr>
            <a:r>
              <a:t>DXF framing drawing</a:t>
            </a:r>
            <a:br/>
            <a:r>
              <a:t>Member detection</a:t>
            </a:r>
            <a:br/>
            <a:r>
              <a:t>Geometry / dimensions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0" y="2404872"/>
            <a:ext cx="594360" cy="0"/>
          </a:xfrm>
          <a:prstGeom prst="line">
            <a:avLst/>
          </a:prstGeom>
          <a:ln w="3556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1417320"/>
            <a:ext cx="3520440" cy="196596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ENGINEERING</a:t>
            </a:r>
          </a:p>
          <a:p>
            <a:pPr>
              <a:spcBef>
                <a:spcPts val="500"/>
              </a:spcBef>
              <a:defRPr sz="1600">
                <a:solidFill>
                  <a:srgbClr val="2D3741"/>
                </a:solidFill>
              </a:defRPr>
            </a:pPr>
            <a:r>
              <a:t>Concrete volume</a:t>
            </a:r>
            <a:br/>
            <a:r>
              <a:t>Shuttering area</a:t>
            </a:r>
            <a:br/>
            <a:r>
              <a:t>Rules &amp; calculations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80" y="2404872"/>
            <a:ext cx="594360" cy="0"/>
          </a:xfrm>
          <a:prstGeom prst="line">
            <a:avLst/>
          </a:prstGeom>
          <a:ln w="3556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75320" y="1417320"/>
            <a:ext cx="3520440" cy="196596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OUTPUT</a:t>
            </a:r>
          </a:p>
          <a:p>
            <a:pPr>
              <a:spcBef>
                <a:spcPts val="500"/>
              </a:spcBef>
              <a:defRPr sz="1600">
                <a:solidFill>
                  <a:srgbClr val="2D3741"/>
                </a:solidFill>
              </a:defRPr>
            </a:pPr>
            <a:r>
              <a:t>Excel quantity report</a:t>
            </a:r>
            <a:br/>
            <a:r>
              <a:t>Review sheet</a:t>
            </a:r>
            <a:br/>
            <a:r>
              <a:t>Flagged 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332720" cy="1682512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just">
              <a:spcAft>
                <a:spcPts val="1100"/>
              </a:spcAft>
              <a:defRPr sz="1700">
                <a:solidFill>
                  <a:srgbClr val="2D3741"/>
                </a:solidFill>
              </a:defRPr>
            </a:pPr>
            <a:r>
              <a:rPr dirty="0"/>
              <a:t>• Standard drawings can be processed deterministically.</a:t>
            </a:r>
          </a:p>
          <a:p>
            <a:pPr algn="just">
              <a:spcAft>
                <a:spcPts val="1100"/>
              </a:spcAft>
              <a:defRPr sz="1700">
                <a:solidFill>
                  <a:srgbClr val="2D3741"/>
                </a:solidFill>
              </a:defRPr>
            </a:pPr>
            <a:r>
              <a:rPr dirty="0"/>
              <a:t>• LLM assistance is used only when information such as slab thickness, tags, beam dimensions or bounded regions is missing / ambiguous.</a:t>
            </a:r>
          </a:p>
          <a:p>
            <a:pPr algn="just">
              <a:spcAft>
                <a:spcPts val="1100"/>
              </a:spcAft>
              <a:defRPr sz="1700">
                <a:solidFill>
                  <a:srgbClr val="2D3741"/>
                </a:solidFill>
              </a:defRPr>
            </a:pPr>
            <a:r>
              <a:rPr dirty="0"/>
              <a:t>• Estimation Team validation demonstrated meaningful productivity improvement; quantity accuracy still requires further improvement.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t>AI Construction Estimation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76607" cy="74824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1175661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rPr dirty="0"/>
              <a:t>6. Concrete POC </a:t>
            </a:r>
            <a:r>
              <a:rPr lang="en-US" dirty="0"/>
              <a:t>-</a:t>
            </a:r>
            <a:r>
              <a:rPr dirty="0"/>
              <a:t> Estimation Team Validation</a:t>
            </a:r>
            <a:r>
              <a:rPr lang="en-US" dirty="0"/>
              <a:t> – Accuracy &amp; Time Saving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502920" y="3118521"/>
            <a:ext cx="3566160" cy="14173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rPr dirty="0"/>
              <a:t>Slab Concrete</a:t>
            </a:r>
          </a:p>
          <a:p>
            <a:pPr algn="ctr">
              <a:spcBef>
                <a:spcPts val="500"/>
              </a:spcBef>
              <a:defRPr sz="2000">
                <a:solidFill>
                  <a:srgbClr val="2D3741"/>
                </a:solidFill>
              </a:defRPr>
            </a:pPr>
            <a:r>
              <a:rPr lang="en-US" b="1" dirty="0"/>
              <a:t>Accuracy - </a:t>
            </a:r>
            <a:r>
              <a:rPr b="1" dirty="0"/>
              <a:t>69%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2767" y="3167536"/>
            <a:ext cx="3566160" cy="14173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rPr dirty="0"/>
              <a:t>Slab Shuttering</a:t>
            </a:r>
          </a:p>
          <a:p>
            <a:pPr algn="ctr">
              <a:spcBef>
                <a:spcPts val="500"/>
              </a:spcBef>
              <a:defRPr sz="2000">
                <a:solidFill>
                  <a:srgbClr val="2D3741"/>
                </a:solidFill>
              </a:defRPr>
            </a:pPr>
            <a:r>
              <a:rPr lang="en-US" b="1" dirty="0"/>
              <a:t>Accuracy - </a:t>
            </a:r>
            <a:r>
              <a:rPr b="1" dirty="0"/>
              <a:t>73%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68711"/>
            <a:ext cx="3566160" cy="14173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rPr dirty="0"/>
              <a:t>Beam Concrete</a:t>
            </a:r>
          </a:p>
          <a:p>
            <a:pPr algn="ctr">
              <a:spcBef>
                <a:spcPts val="500"/>
              </a:spcBef>
              <a:defRPr sz="2000">
                <a:solidFill>
                  <a:srgbClr val="2D3741"/>
                </a:solidFill>
              </a:defRPr>
            </a:pPr>
            <a:r>
              <a:rPr lang="en-US" b="1" dirty="0"/>
              <a:t>Accuracy - </a:t>
            </a:r>
            <a:r>
              <a:rPr b="1" dirty="0"/>
              <a:t>78%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767" y="1180411"/>
            <a:ext cx="3566160" cy="14173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rPr dirty="0"/>
              <a:t>Beam Shuttering</a:t>
            </a:r>
          </a:p>
          <a:p>
            <a:pPr algn="ctr">
              <a:spcBef>
                <a:spcPts val="500"/>
              </a:spcBef>
              <a:defRPr sz="2000">
                <a:solidFill>
                  <a:srgbClr val="2D3741"/>
                </a:solidFill>
              </a:defRPr>
            </a:pPr>
            <a:r>
              <a:rPr lang="en-US" b="1" dirty="0"/>
              <a:t>Accuracy - </a:t>
            </a:r>
            <a:r>
              <a:rPr b="1" dirty="0"/>
              <a:t>81%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6379" y="3165224"/>
            <a:ext cx="3566160" cy="141732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rPr dirty="0"/>
              <a:t>Slab Productivity</a:t>
            </a:r>
          </a:p>
          <a:p>
            <a:pPr algn="ctr">
              <a:spcBef>
                <a:spcPts val="500"/>
              </a:spcBef>
              <a:defRPr sz="2000">
                <a:solidFill>
                  <a:srgbClr val="2D3741"/>
                </a:solidFill>
              </a:defRPr>
            </a:pPr>
            <a:r>
              <a:rPr b="1" dirty="0"/>
              <a:t>29% time saving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4719" y="1095707"/>
            <a:ext cx="3566160" cy="1502024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rPr dirty="0"/>
              <a:t>Beam Productivity</a:t>
            </a:r>
          </a:p>
          <a:p>
            <a:pPr algn="ctr">
              <a:spcBef>
                <a:spcPts val="500"/>
              </a:spcBef>
              <a:defRPr sz="2000">
                <a:solidFill>
                  <a:srgbClr val="2D3741"/>
                </a:solidFill>
              </a:defRPr>
            </a:pPr>
            <a:r>
              <a:rPr b="1" dirty="0"/>
              <a:t>67% time saving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706" y="5166360"/>
            <a:ext cx="994810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8365D"/>
                </a:solidFill>
              </a:defRPr>
            </a:pPr>
            <a:r>
              <a:rPr dirty="0"/>
              <a:t>Estimation Team conclusion: processing effort is reduced, but current quantities still require </a:t>
            </a:r>
            <a:r>
              <a:rPr lang="en-US" dirty="0"/>
              <a:t>accuracy improvement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8788" y="6473952"/>
            <a:ext cx="164981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rPr dirty="0"/>
              <a:t>AI Construction Estimation  |  </a:t>
            </a:r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t>7. Steel Beam Estimation — Hybrid 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932688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6874"/>
                </a:solidFill>
              </a:defRPr>
            </a:pPr>
            <a:r>
              <a:t>AI perception + deterministic engineering calculation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2971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rPr dirty="0"/>
              <a:t>DETERMINISTIC  ENGINEERING</a:t>
            </a:r>
          </a:p>
          <a:p>
            <a:pPr>
              <a:spcBef>
                <a:spcPts val="500"/>
              </a:spcBef>
              <a:defRPr sz="1600">
                <a:solidFill>
                  <a:srgbClr val="2D3741"/>
                </a:solidFill>
              </a:defRPr>
            </a:pPr>
            <a:r>
              <a:rPr dirty="0"/>
              <a:t>Geometry</a:t>
            </a:r>
            <a:br>
              <a:rPr dirty="0"/>
            </a:br>
            <a:r>
              <a:rPr dirty="0"/>
              <a:t>Beam model</a:t>
            </a:r>
            <a:br>
              <a:rPr dirty="0"/>
            </a:br>
            <a:r>
              <a:rPr dirty="0"/>
              <a:t>Spans / </a:t>
            </a:r>
            <a:r>
              <a:rPr lang="en-US" dirty="0"/>
              <a:t>D</a:t>
            </a:r>
            <a:r>
              <a:rPr dirty="0"/>
              <a:t>imensions</a:t>
            </a:r>
            <a:br>
              <a:rPr dirty="0"/>
            </a:br>
            <a:r>
              <a:rPr dirty="0"/>
              <a:t>Cover</a:t>
            </a:r>
            <a:br>
              <a:rPr dirty="0"/>
            </a:br>
            <a:r>
              <a:rPr dirty="0"/>
              <a:t>Engineering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520440" cy="2971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rPr dirty="0"/>
              <a:t>AI VISION</a:t>
            </a:r>
          </a:p>
          <a:p>
            <a:pPr>
              <a:spcBef>
                <a:spcPts val="500"/>
              </a:spcBef>
              <a:defRPr sz="1600">
                <a:solidFill>
                  <a:srgbClr val="2D3741"/>
                </a:solidFill>
              </a:defRPr>
            </a:pPr>
            <a:r>
              <a:rPr dirty="0"/>
              <a:t>Reinforcement groups</a:t>
            </a:r>
            <a:br>
              <a:rPr dirty="0"/>
            </a:br>
            <a:r>
              <a:rPr dirty="0"/>
              <a:t>Bar count / </a:t>
            </a:r>
            <a:r>
              <a:rPr lang="en-US" dirty="0"/>
              <a:t>D</a:t>
            </a:r>
            <a:r>
              <a:rPr dirty="0"/>
              <a:t>iameter</a:t>
            </a:r>
            <a:br>
              <a:rPr dirty="0"/>
            </a:br>
            <a:r>
              <a:rPr lang="en-US" dirty="0"/>
              <a:t>Top/ Bottom/ </a:t>
            </a:r>
            <a:r>
              <a:rPr dirty="0"/>
              <a:t>M</a:t>
            </a:r>
            <a:r>
              <a:rPr lang="en-US" dirty="0"/>
              <a:t>ain</a:t>
            </a:r>
            <a:r>
              <a:rPr dirty="0"/>
              <a:t> / E</a:t>
            </a:r>
            <a:r>
              <a:rPr lang="en-US" dirty="0"/>
              <a:t>xtra</a:t>
            </a:r>
            <a:br>
              <a:rPr dirty="0"/>
            </a:br>
            <a:r>
              <a:rPr dirty="0"/>
              <a:t>Support scope</a:t>
            </a:r>
            <a:br>
              <a:rPr dirty="0"/>
            </a:br>
            <a:r>
              <a:rPr dirty="0"/>
              <a:t>Visual stirrups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417320"/>
            <a:ext cx="3520440" cy="297180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rPr dirty="0"/>
              <a:t>HYBRID RESOLUTION</a:t>
            </a:r>
          </a:p>
          <a:p>
            <a:pPr algn="ctr">
              <a:spcBef>
                <a:spcPts val="500"/>
              </a:spcBef>
              <a:defRPr sz="1600">
                <a:solidFill>
                  <a:srgbClr val="2D3741"/>
                </a:solidFill>
              </a:defRPr>
            </a:pPr>
            <a:r>
              <a:rPr dirty="0"/>
              <a:t>Combine semantic interpretation with deterministic facts and project rules before quantity computation.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" y="2898648"/>
            <a:ext cx="292608" cy="0"/>
          </a:xfrm>
          <a:prstGeom prst="line">
            <a:avLst/>
          </a:prstGeom>
          <a:ln w="381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63840" y="2898648"/>
            <a:ext cx="292608" cy="0"/>
          </a:xfrm>
          <a:prstGeom prst="line">
            <a:avLst/>
          </a:prstGeom>
          <a:ln w="381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8006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8365D"/>
                </a:solidFill>
              </a:defRPr>
            </a:pPr>
            <a:r>
              <a:t>VISION  “What reinforcement exists?”   →   HYBRID RESOLUTION   →   ENGINEERING  “How is it quantified?”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8788" y="6473952"/>
            <a:ext cx="164981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rPr dirty="0"/>
              <a:t>AI Construction Estimation  |  </a:t>
            </a:r>
            <a:r>
              <a:rPr lang="en-US" dirty="0"/>
              <a:t>8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t>8. Steel Beam Model — Engineering Intelligence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3566160" cy="178308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Drawing Architecture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Identity • drawing sets • beam index • versioning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61872"/>
            <a:ext cx="3566160" cy="17830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Geometry Intelligence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Regions • sketches • text • leaders • blocks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261872"/>
            <a:ext cx="3566160" cy="17830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Detail &amp; Match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Multi-view recognition • context • candidate ranking • confidence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3"/>
            <a:ext cx="3566160" cy="17830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Ownership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Text / leader / bar / stirrup / shared ownership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346703"/>
            <a:ext cx="3566160" cy="17830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Reinforcement Parsing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Longitudinal bars • stirrups • side-face • laps • hooks • curtailment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346703"/>
            <a:ext cx="3566160" cy="178308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700" b="1">
                <a:solidFill>
                  <a:srgbClr val="1F4E79"/>
                </a:solidFill>
              </a:defRPr>
            </a:pPr>
            <a:r>
              <a:t>Quantity &amp; Output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Cut lengths • unit weights • steel quantity • BBS •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788" y="6473952"/>
            <a:ext cx="164981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rPr dirty="0"/>
              <a:t>AI Construction Estimation  |  </a:t>
            </a:r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"/>
            <a:ext cx="12176607" cy="7022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36575"/>
            <a:ext cx="12176607" cy="146305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666874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rPr lang="en-US" dirty="0"/>
              <a:t>9</a:t>
            </a:r>
            <a:r>
              <a:rPr dirty="0"/>
              <a:t>. End-to-End </a:t>
            </a:r>
            <a:r>
              <a:rPr lang="en-US" dirty="0"/>
              <a:t>Steel </a:t>
            </a:r>
            <a:r>
              <a:rPr dirty="0"/>
              <a:t>Estimation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1.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Upload drawing package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938528"/>
            <a:ext cx="274319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39" y="1417320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2.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Understand drawing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92040" y="1938528"/>
            <a:ext cx="274319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59" y="1417320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3.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Extract geometry &amp; context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23759" y="1938528"/>
            <a:ext cx="274320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98079" y="1417320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4.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Identify components / material regions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55480" y="1938528"/>
            <a:ext cx="274320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29800" y="1417320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5.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Route to estimation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44887" y="3640885"/>
            <a:ext cx="2057400" cy="105156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6.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rPr dirty="0"/>
              <a:t>AI / Vision where required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0320" y="4224528"/>
            <a:ext cx="274319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505623" y="3657601"/>
            <a:ext cx="2057400" cy="105156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7.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Hybrid resolution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92040" y="4224528"/>
            <a:ext cx="274319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66359" y="3703320"/>
            <a:ext cx="2057400" cy="1051560"/>
          </a:xfrm>
          <a:prstGeom prst="roundRect">
            <a:avLst/>
          </a:prstGeom>
          <a:solidFill>
            <a:srgbClr val="EBF2F9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8.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t>Deterministic quantity calculation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23759" y="4224528"/>
            <a:ext cx="274320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19553" y="3703320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9.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rPr dirty="0"/>
              <a:t>Validation &amp; review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55480" y="4224528"/>
            <a:ext cx="274320" cy="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95377" y="3680461"/>
            <a:ext cx="2057400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46304" bIns="73152" rtlCol="0" anchor="ctr"/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rPr dirty="0"/>
              <a:t>10.</a:t>
            </a:r>
          </a:p>
          <a:p>
            <a:pPr>
              <a:spcBef>
                <a:spcPts val="500"/>
              </a:spcBef>
              <a:defRPr sz="1400">
                <a:solidFill>
                  <a:srgbClr val="2D3741"/>
                </a:solidFill>
              </a:defRPr>
            </a:pPr>
            <a:r>
              <a:rPr dirty="0"/>
              <a:t>BOQ / BBS / Excel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873587" y="2468880"/>
            <a:ext cx="0" cy="1143000"/>
          </a:xfrm>
          <a:prstGeom prst="line">
            <a:avLst/>
          </a:prstGeom>
          <a:ln w="3048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951081" y="6473952"/>
            <a:ext cx="170751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rPr dirty="0"/>
              <a:t>AI Construction Estimation  |  </a:t>
            </a:r>
            <a:r>
              <a:rPr lang="en-US" dirty="0"/>
              <a:t>10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3117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04263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8365D"/>
                </a:solidFill>
              </a:defRPr>
            </a:pPr>
            <a:r>
              <a:rPr lang="en-US" dirty="0"/>
              <a:t>10. </a:t>
            </a:r>
            <a:r>
              <a:rPr dirty="0"/>
              <a:t>Steel Beam — Internal Accuracy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9144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C6874"/>
                </a:solidFill>
              </a:defRPr>
            </a:pPr>
            <a:r>
              <a:t>Current model testing result  •  Subject to Estimation Team validation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569949"/>
              </p:ext>
            </p:extLst>
          </p:nvPr>
        </p:nvGraphicFramePr>
        <p:xfrm>
          <a:off x="502920" y="2057400"/>
          <a:ext cx="11201399" cy="3518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Diameter (mm)</a:t>
                      </a: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Automated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 (MT)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Estimated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(MT)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Error Scale</a:t>
                      </a: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% Error</a:t>
                      </a: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% Accuracy</a:t>
                      </a:r>
                    </a:p>
                  </a:txBody>
                  <a:tcPr anchor="ctr">
                    <a:solidFill>
                      <a:srgbClr val="18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D3741"/>
                          </a:solidFill>
                        </a:rPr>
                        <a:t>Y8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Overestimate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27.57%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72.43%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D3741"/>
                          </a:solidFill>
                        </a:rPr>
                        <a:t>Y10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0.91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1.18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-0.27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Underestimate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-23.12%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76.88%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D3741"/>
                          </a:solidFill>
                        </a:rPr>
                        <a:t>Y12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2.31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2.78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-0.47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Underestimate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-16.98%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83.02%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D3741"/>
                          </a:solidFill>
                        </a:rPr>
                        <a:t>Y16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3.51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2.57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0.94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Overestimate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36.49%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63.51%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D3741"/>
                          </a:solidFill>
                        </a:rPr>
                        <a:t>Y20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3.00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2.33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Overestimate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28.54%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71.46%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D3741"/>
                          </a:solidFill>
                        </a:rPr>
                        <a:t>Y25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1.31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1.12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0.19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Overestimate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17.25%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D3741"/>
                          </a:solidFill>
                        </a:rPr>
                        <a:t>82.75%</a:t>
                      </a:r>
                    </a:p>
                  </a:txBody>
                  <a:tcPr anchor="ctr"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8365D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8365D"/>
                          </a:solidFill>
                        </a:rPr>
                        <a:t>11.58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8365D"/>
                          </a:solidFill>
                        </a:rPr>
                        <a:t>10.41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8365D"/>
                          </a:solidFill>
                        </a:rPr>
                        <a:t>1.17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8365D"/>
                          </a:solidFill>
                        </a:rPr>
                        <a:t>Overestimate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8365D"/>
                          </a:solidFill>
                        </a:rPr>
                        <a:t>11.24%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8365D"/>
                          </a:solidFill>
                        </a:rPr>
                        <a:t>88.76%</a:t>
                      </a:r>
                    </a:p>
                  </a:txBody>
                  <a:tcPr anchor="ctr">
                    <a:solidFill>
                      <a:srgbClr val="EB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5715000"/>
            <a:ext cx="10789920" cy="502920"/>
          </a:xfrm>
          <a:prstGeom prst="roundRect">
            <a:avLst/>
          </a:prstGeom>
          <a:solidFill>
            <a:srgbClr val="F7FAFD"/>
          </a:solidFill>
          <a:ln>
            <a:solidFill>
              <a:srgbClr val="CD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18365D"/>
                </a:solidFill>
              </a:rPr>
              <a:t>Internal testing</a:t>
            </a:r>
            <a:r>
              <a:rPr lang="en-US" sz="1400" b="1" dirty="0">
                <a:solidFill>
                  <a:srgbClr val="18365D"/>
                </a:solidFill>
              </a:rPr>
              <a:t> Result</a:t>
            </a:r>
            <a:r>
              <a:rPr sz="1400" b="1" dirty="0">
                <a:solidFill>
                  <a:srgbClr val="18365D"/>
                </a:solidFill>
              </a:rPr>
              <a:t>: </a:t>
            </a:r>
            <a:r>
              <a:rPr lang="en-US" sz="1400" b="1" dirty="0">
                <a:solidFill>
                  <a:srgbClr val="18365D"/>
                </a:solidFill>
              </a:rPr>
              <a:t>70-80% Overall A</a:t>
            </a:r>
            <a:r>
              <a:rPr sz="1400" b="1" dirty="0">
                <a:solidFill>
                  <a:srgbClr val="18365D"/>
                </a:solidFill>
              </a:rPr>
              <a:t>ccuracy  •  Final performance subject to Estimation Team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45" y="6473952"/>
            <a:ext cx="226055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874"/>
                </a:solidFill>
              </a:defRPr>
            </a:pPr>
            <a:r>
              <a:rPr dirty="0"/>
              <a:t>AI Construction Estimation  |  Steel Beam</a:t>
            </a:r>
            <a:r>
              <a:rPr lang="en-US" dirty="0"/>
              <a:t> 11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FA18E-EE08-D4C0-E666-2921062D4996}"/>
              </a:ext>
            </a:extLst>
          </p:cNvPr>
          <p:cNvSpPr txBox="1"/>
          <p:nvPr/>
        </p:nvSpPr>
        <p:spPr>
          <a:xfrm>
            <a:off x="517176" y="1359310"/>
            <a:ext cx="11141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/>
              <a:t>S</a:t>
            </a:r>
            <a:r>
              <a:rPr lang="en-IN" sz="1600" b="1" dirty="0"/>
              <a:t>teel Beam Estimation Model Link - </a:t>
            </a:r>
            <a:r>
              <a:rPr lang="en-IN" sz="1600" b="1" u="sng" dirty="0">
                <a:hlinkClick r:id="rId2"/>
              </a:rPr>
              <a:t>http://13.127.104.99/</a:t>
            </a:r>
            <a:endParaRPr lang="en-IN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0A43127-1782-9D96-879B-E2ED149F6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7" y="2239999"/>
            <a:ext cx="6035563" cy="2712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C26649-927D-4FC9-1586-152D0BF7C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411" y="126428"/>
            <a:ext cx="4214225" cy="37341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B2B8B0-98A1-206C-8E95-48518FCAF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634" y="4163623"/>
            <a:ext cx="4383152" cy="2414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932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C29002-FC38-7C9C-E2DD-27D02852B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2" y="1914593"/>
            <a:ext cx="5730256" cy="26748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283EFC-ADAA-AD73-A8B1-F8C132416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685" y="81050"/>
            <a:ext cx="4092295" cy="3505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AA4779-83D9-783C-DDF3-F3A2D8A91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7685" y="4172380"/>
            <a:ext cx="4275826" cy="155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351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6D63B8-CBB4-607E-25CA-D501E840F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7" y="1735969"/>
            <a:ext cx="6058425" cy="2796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7F2D4F-A360-E0F4-5B6D-ED69D522E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588" y="718611"/>
            <a:ext cx="4198984" cy="2415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08765-BC64-ED33-CC11-4892290B8E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588" y="4527671"/>
            <a:ext cx="3924640" cy="10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957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F4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067640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1F4169"/>
                </a:solidFill>
                <a:latin typeface="Aptos Display"/>
              </a:rPr>
              <a:t>Why Estimation Automation Takes</a:t>
            </a:r>
            <a:r>
              <a:rPr lang="en-US" sz="2500" b="1" dirty="0">
                <a:solidFill>
                  <a:srgbClr val="1F4169"/>
                </a:solidFill>
                <a:latin typeface="Aptos Display"/>
              </a:rPr>
              <a:t> Significant</a:t>
            </a:r>
            <a:r>
              <a:rPr sz="2500" b="1" dirty="0">
                <a:solidFill>
                  <a:srgbClr val="1F4169"/>
                </a:solidFill>
                <a:latin typeface="Aptos Display"/>
              </a:rPr>
              <a:t>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932688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566576"/>
                </a:solidFill>
                <a:latin typeface="Aptos"/>
              </a:rPr>
              <a:t>Development effort varies by work item  •  Engineering understanding + diagnostics +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81328"/>
            <a:ext cx="3493008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C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321868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F4169"/>
                </a:solidFill>
                <a:latin typeface="Aptos"/>
              </a:rPr>
              <a:t>1. Engineering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84248"/>
            <a:ext cx="3090672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>
                <a:solidFill>
                  <a:srgbClr val="26323F"/>
                </a:solidFill>
                <a:latin typeface="Aptos"/>
              </a:rPr>
              <a:t>Different drawings, structural rules, quantity logic and calculation methods for each work item.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481328"/>
            <a:ext cx="3493008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C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7136" y="1591056"/>
            <a:ext cx="321868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F4169"/>
                </a:solidFill>
                <a:latin typeface="Aptos"/>
              </a:rPr>
              <a:t>2. Drawing 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130092"/>
            <a:ext cx="3090672" cy="5678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dirty="0">
                <a:solidFill>
                  <a:srgbClr val="26323F"/>
                </a:solidFill>
                <a:latin typeface="Aptos"/>
              </a:rPr>
              <a:t>Understand how information is represented, connected and interpreted in real construction drawings.</a:t>
            </a:r>
            <a:r>
              <a:rPr lang="en-US" sz="1030" dirty="0">
                <a:solidFill>
                  <a:srgbClr val="26323F"/>
                </a:solidFill>
                <a:latin typeface="Aptos"/>
              </a:rPr>
              <a:t> This must be transferred to the System. </a:t>
            </a:r>
            <a:endParaRPr sz="1030" dirty="0">
              <a:solidFill>
                <a:srgbClr val="26323F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74152" y="1481328"/>
            <a:ext cx="3493008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C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591056"/>
            <a:ext cx="321868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F4169"/>
                </a:solidFill>
                <a:latin typeface="Aptos"/>
              </a:rPr>
              <a:t>3. Root-Cause &amp; Diagnostics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984248"/>
            <a:ext cx="3090672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>
                <a:solidFill>
                  <a:srgbClr val="26323F"/>
                </a:solidFill>
                <a:latin typeface="Aptos"/>
              </a:rPr>
              <a:t>Trace incorrect results through multiple stages to identify the actual source of the problem.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8488" y="3154680"/>
            <a:ext cx="3493008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C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55648" y="3264408"/>
            <a:ext cx="321868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F4169"/>
                </a:solidFill>
                <a:latin typeface="Aptos"/>
              </a:rPr>
              <a:t>4. Solution &amp; Iteration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656" y="3657600"/>
            <a:ext cx="3090672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>
                <a:solidFill>
                  <a:srgbClr val="26323F"/>
                </a:solidFill>
                <a:latin typeface="Aptos"/>
              </a:rPr>
              <a:t>Implement possible solutions and test them across different drawing conditions and edge cases.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3154680"/>
            <a:ext cx="3493008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C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40680" y="3264408"/>
            <a:ext cx="321868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F4169"/>
                </a:solidFill>
                <a:latin typeface="Aptos"/>
              </a:rPr>
              <a:t>5. Validation &amp;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3657600"/>
            <a:ext cx="3090672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>
                <a:solidFill>
                  <a:srgbClr val="26323F"/>
                </a:solidFill>
                <a:latin typeface="Aptos"/>
              </a:rPr>
              <a:t>Validate outputs against engineering expectations before the automation can be trusted.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817352" cy="749808"/>
          </a:xfrm>
          <a:prstGeom prst="roundRect">
            <a:avLst/>
          </a:prstGeom>
          <a:solidFill>
            <a:srgbClr val="EBF2F9"/>
          </a:solidFill>
          <a:ln w="11430">
            <a:solidFill>
              <a:srgbClr val="CC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248656"/>
            <a:ext cx="10360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169"/>
                </a:solidFill>
                <a:latin typeface="Aptos"/>
              </a:rPr>
              <a:t>Development time = Understanding  →  Diagnosis  →  Solution  →  Iteration  → 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446520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566576"/>
                </a:solidFill>
                <a:latin typeface="Aptos"/>
              </a:rPr>
              <a:t>AI Construction Estimation  | 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</TotalTime>
  <Words>1112</Words>
  <Application>Microsoft Office PowerPoint</Application>
  <PresentationFormat>Widescreen</PresentationFormat>
  <Paragraphs>243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Nishanth Bilimagga Hanumantha</dc:creator>
  <cp:keywords/>
  <dc:description>generated using python-pptx</dc:description>
  <cp:lastModifiedBy>Nishanth Bilimagga Hanumantha</cp:lastModifiedBy>
  <cp:revision>38</cp:revision>
  <dcterms:created xsi:type="dcterms:W3CDTF">2013-01-27T09:14:16Z</dcterms:created>
  <dcterms:modified xsi:type="dcterms:W3CDTF">2026-09-04T10:26:46Z</dcterms:modified>
  <cp:category/>
</cp:coreProperties>
</file>