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AI-DRIVEN</a:t>
            </a:r>
            <a:br>
              <a:rPr dirty="0"/>
            </a:br>
            <a:r>
              <a:rPr dirty="0"/>
              <a:t>CONSTRUCTION ESTIMATION</a:t>
            </a:r>
          </a:p>
          <a:p>
            <a:pPr>
              <a:defRPr sz="2300">
                <a:solidFill>
                  <a:srgbClr val="CDDCEB"/>
                </a:solidFill>
              </a:defRPr>
            </a:pPr>
            <a:r>
              <a:rPr dirty="0"/>
              <a:t>Complete AI Estimation Model</a:t>
            </a:r>
          </a:p>
          <a:p>
            <a:pPr>
              <a:defRPr sz="1500">
                <a:solidFill>
                  <a:srgbClr val="BECDDC"/>
                </a:solidFill>
              </a:defRPr>
            </a:pPr>
            <a:r>
              <a:rPr dirty="0"/>
              <a:t>Concrete + Steel → Multi-Material / Multi-Component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927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rPr lang="en-US" dirty="0"/>
              <a:t>1</a:t>
            </a:r>
            <a:r>
              <a:rPr dirty="0"/>
              <a:t>. Construction Estimation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1. Concrete</a:t>
            </a:r>
          </a:p>
          <a:p>
            <a:r>
              <a:rPr sz="1150">
                <a:solidFill>
                  <a:srgbClr val="595959"/>
                </a:solidFill>
              </a:rPr>
              <a:t>MAJOR — Concrete quantity estimation across structural components; current work: Beam &amp; Slab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2. Steel</a:t>
            </a:r>
          </a:p>
          <a:p>
            <a:r>
              <a:rPr sz="1150">
                <a:solidFill>
                  <a:srgbClr val="595959"/>
                </a:solidFill>
              </a:rPr>
              <a:t>MAJOR — Reinforcement steel quantity / BBS; current work: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3. Blockwork</a:t>
            </a:r>
          </a:p>
          <a:p>
            <a:r>
              <a:rPr sz="1150">
                <a:solidFill>
                  <a:srgbClr val="595959"/>
                </a:solidFill>
              </a:rPr>
              <a:t>Wall/block quantity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4. Tiles &amp; Granite</a:t>
            </a:r>
          </a:p>
          <a:p>
            <a:r>
              <a:rPr sz="1150">
                <a:solidFill>
                  <a:srgbClr val="595959"/>
                </a:solidFill>
              </a:rPr>
              <a:t>Floor and wall finish quantity estimation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5. Plastering</a:t>
            </a:r>
          </a:p>
          <a:p>
            <a:r>
              <a:rPr sz="1150">
                <a:solidFill>
                  <a:srgbClr val="595959"/>
                </a:solidFill>
              </a:rPr>
              <a:t>Internal/external plaster quantity estimation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377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6. Painting</a:t>
            </a:r>
          </a:p>
          <a:p>
            <a:r>
              <a:rPr sz="1150">
                <a:solidFill>
                  <a:srgbClr val="595959"/>
                </a:solidFill>
              </a:rPr>
              <a:t>Paintable surface quantity estimation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7. Waterproofing</a:t>
            </a:r>
          </a:p>
          <a:p>
            <a:r>
              <a:rPr sz="1150">
                <a:solidFill>
                  <a:srgbClr val="595959"/>
                </a:solidFill>
              </a:rPr>
              <a:t>Wet-area, terrace and relevant surface quantities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520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8. Doors &amp; Windows (Glazing)</a:t>
            </a:r>
          </a:p>
          <a:p>
            <a:r>
              <a:rPr sz="1150">
                <a:solidFill>
                  <a:srgbClr val="595959"/>
                </a:solidFill>
              </a:rPr>
              <a:t>Openings, frames, shutters and glazing quantities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520440"/>
            <a:ext cx="35661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9. Earthwork</a:t>
            </a:r>
          </a:p>
          <a:p>
            <a:r>
              <a:rPr sz="1150">
                <a:solidFill>
                  <a:srgbClr val="595959"/>
                </a:solidFill>
              </a:rPr>
              <a:t>MAJOR — Excavation, filling and earthwork quantities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4777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rPr lang="en-US" dirty="0"/>
              <a:t>2</a:t>
            </a:r>
            <a:r>
              <a:rPr dirty="0"/>
              <a:t>. Six Major Structural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5661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1. </a:t>
            </a:r>
            <a:r>
              <a:rPr sz="1600" b="1" dirty="0">
                <a:solidFill>
                  <a:srgbClr val="1F4E79"/>
                </a:solidFill>
              </a:rPr>
              <a:t>Beam</a:t>
            </a:r>
          </a:p>
          <a:p>
            <a:r>
              <a:rPr sz="1150" dirty="0">
                <a:solidFill>
                  <a:srgbClr val="595959"/>
                </a:solidFill>
              </a:rPr>
              <a:t>Concrete: Concrete — developed
Steel: Steel — developed
Primary structural member estimation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5661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2. </a:t>
            </a:r>
            <a:r>
              <a:rPr sz="1600" b="1" dirty="0">
                <a:solidFill>
                  <a:srgbClr val="1F4E79"/>
                </a:solidFill>
              </a:rPr>
              <a:t>Slab</a:t>
            </a:r>
          </a:p>
          <a:p>
            <a:r>
              <a:rPr sz="1150" dirty="0">
                <a:solidFill>
                  <a:srgbClr val="595959"/>
                </a:solidFill>
              </a:rPr>
              <a:t>Concrete: Concrete — developed
Steel: Steel — future extension
Major structural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80160"/>
            <a:ext cx="35661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3. </a:t>
            </a:r>
            <a:r>
              <a:rPr sz="1600" b="1" dirty="0">
                <a:solidFill>
                  <a:srgbClr val="1F4E79"/>
                </a:solidFill>
              </a:rPr>
              <a:t>Column</a:t>
            </a:r>
          </a:p>
          <a:p>
            <a:r>
              <a:rPr sz="1150" dirty="0">
                <a:solidFill>
                  <a:srgbClr val="595959"/>
                </a:solidFill>
              </a:rPr>
              <a:t>Concrete: Planned / future
Steel: Planned / future
Structural 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37560"/>
            <a:ext cx="35661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4. </a:t>
            </a:r>
            <a:r>
              <a:rPr sz="1600" b="1" dirty="0">
                <a:solidFill>
                  <a:srgbClr val="1F4E79"/>
                </a:solidFill>
              </a:rPr>
              <a:t>Foundation</a:t>
            </a:r>
          </a:p>
          <a:p>
            <a:r>
              <a:rPr sz="1150" dirty="0">
                <a:solidFill>
                  <a:srgbClr val="595959"/>
                </a:solidFill>
              </a:rPr>
              <a:t>Concrete: Planned / future
Steel: Planned / future
Foundation quantity estimation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337560"/>
            <a:ext cx="35661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5. </a:t>
            </a:r>
            <a:r>
              <a:rPr sz="1600" b="1" dirty="0">
                <a:solidFill>
                  <a:srgbClr val="1F4E79"/>
                </a:solidFill>
              </a:rPr>
              <a:t>Shear Wall</a:t>
            </a:r>
          </a:p>
          <a:p>
            <a:r>
              <a:rPr sz="1150" dirty="0">
                <a:solidFill>
                  <a:srgbClr val="595959"/>
                </a:solidFill>
              </a:rPr>
              <a:t>Concrete: Planned / future
Steel: Planned / future
Vertical structural wall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337560"/>
            <a:ext cx="356616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6. </a:t>
            </a:r>
            <a:r>
              <a:rPr sz="1600" b="1" dirty="0">
                <a:solidFill>
                  <a:srgbClr val="1F4E79"/>
                </a:solidFill>
              </a:rPr>
              <a:t>Retaining Wall</a:t>
            </a:r>
          </a:p>
          <a:p>
            <a:r>
              <a:rPr sz="1150" dirty="0">
                <a:solidFill>
                  <a:srgbClr val="595959"/>
                </a:solidFill>
              </a:rPr>
              <a:t>Concrete: Planned / future
Steel: Planned / future
Retaining / earth-support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5162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rPr lang="en-US" dirty="0"/>
              <a:t>3</a:t>
            </a:r>
            <a:r>
              <a:rPr dirty="0"/>
              <a:t>. What Does Construction Estimation 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INPUT</a:t>
            </a:r>
          </a:p>
          <a:p>
            <a:r>
              <a:rPr sz="1150">
                <a:solidFill>
                  <a:srgbClr val="595959"/>
                </a:solidFill>
              </a:rPr>
              <a:t>Drawings • schedules • notes • revisions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INTERPRET &amp; MEASURE</a:t>
            </a:r>
          </a:p>
          <a:p>
            <a:r>
              <a:rPr sz="1150">
                <a:solidFill>
                  <a:srgbClr val="595959"/>
                </a:solidFill>
              </a:rPr>
              <a:t>Geometry • dimensions • areas • lengths • 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CALCULATE &amp; VALIDATE</a:t>
            </a:r>
          </a:p>
          <a:p>
            <a:r>
              <a:rPr sz="1150">
                <a:solidFill>
                  <a:srgbClr val="595959"/>
                </a:solidFill>
              </a:rPr>
              <a:t>Engineering rules • quantity checks •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337560"/>
            <a:ext cx="6675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OUTPUT</a:t>
            </a:r>
          </a:p>
          <a:p>
            <a:r>
              <a:rPr sz="1150">
                <a:solidFill>
                  <a:srgbClr val="595959"/>
                </a:solidFill>
              </a:rPr>
              <a:t>Quantity take-off / BOQ-ready data / estimator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• AI is used to reduce repetitive interpretation effort while engineering logic remains central to quantity calculation.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t>4. Current AI Development — What Has Been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949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CONCRETE — BEAM &amp; SLAB</a:t>
            </a:r>
          </a:p>
          <a:p>
            <a:r>
              <a:rPr sz="1150" dirty="0">
                <a:solidFill>
                  <a:srgbClr val="595959"/>
                </a:solidFill>
              </a:rPr>
              <a:t>• </a:t>
            </a:r>
            <a:r>
              <a:rPr lang="en-US" sz="1150" dirty="0">
                <a:solidFill>
                  <a:srgbClr val="595959"/>
                </a:solidFill>
              </a:rPr>
              <a:t>Beam</a:t>
            </a:r>
            <a:r>
              <a:rPr sz="1150" dirty="0">
                <a:solidFill>
                  <a:srgbClr val="595959"/>
                </a:solidFill>
              </a:rPr>
              <a:t> concrete
• </a:t>
            </a:r>
            <a:r>
              <a:rPr lang="en-US" sz="1150" dirty="0">
                <a:solidFill>
                  <a:srgbClr val="595959"/>
                </a:solidFill>
              </a:rPr>
              <a:t>Beam</a:t>
            </a:r>
            <a:r>
              <a:rPr sz="1150" dirty="0">
                <a:solidFill>
                  <a:srgbClr val="595959"/>
                </a:solidFill>
              </a:rPr>
              <a:t> shuttering
• </a:t>
            </a:r>
            <a:r>
              <a:rPr lang="en-US" sz="1150" dirty="0">
                <a:solidFill>
                  <a:srgbClr val="595959"/>
                </a:solidFill>
              </a:rPr>
              <a:t>Slab</a:t>
            </a:r>
            <a:r>
              <a:rPr sz="1150" dirty="0">
                <a:solidFill>
                  <a:srgbClr val="595959"/>
                </a:solidFill>
              </a:rPr>
              <a:t> concrete
• </a:t>
            </a:r>
            <a:r>
              <a:rPr lang="en-US" sz="1150" dirty="0">
                <a:solidFill>
                  <a:srgbClr val="595959"/>
                </a:solidFill>
              </a:rPr>
              <a:t>Slab</a:t>
            </a:r>
            <a:r>
              <a:rPr sz="1150" dirty="0">
                <a:solidFill>
                  <a:srgbClr val="595959"/>
                </a:solidFill>
              </a:rPr>
              <a:t> shuttering
• Deterministic calculation + optional LLM assistance for ambiguity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949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STEEL — BEAM</a:t>
            </a:r>
          </a:p>
          <a:p>
            <a:r>
              <a:rPr sz="1150">
                <a:solidFill>
                  <a:srgbClr val="595959"/>
                </a:solidFill>
              </a:rPr>
              <a:t>• Reinforcement drawing understanding
• Beam matching / ownership
• Reinforcement parsing
• Steel quantity + BBS
• Hybrid CAD + Vision + deterministic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595959"/>
                </a:solidFill>
              </a:defRPr>
            </a:pPr>
            <a:r>
              <a:t>• Both workstreams are built around engineering calculations rather than treating AI predictions as the final quantity.</a:t>
            </a:r>
          </a:p>
          <a:p>
            <a:pPr>
              <a:spcAft>
                <a:spcPts val="900"/>
              </a:spcAft>
              <a:defRPr sz="1700">
                <a:solidFill>
                  <a:srgbClr val="595959"/>
                </a:solidFill>
              </a:defRPr>
            </a:pPr>
            <a:r>
              <a:t>• The common platform direction is reusable drawing intelligence + material/component-specific estimation engines.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t>5. Concrete Beam &amp; Slab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Developed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DRAWING</a:t>
            </a:r>
          </a:p>
          <a:p>
            <a:r>
              <a:rPr sz="1150">
                <a:solidFill>
                  <a:srgbClr val="595959"/>
                </a:solidFill>
              </a:rPr>
              <a:t>DXF framing drawing
Member detection
Geometry / dimensions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ENGINEERING</a:t>
            </a:r>
          </a:p>
          <a:p>
            <a:r>
              <a:rPr sz="1150">
                <a:solidFill>
                  <a:srgbClr val="595959"/>
                </a:solidFill>
              </a:rPr>
              <a:t>Concrete volume
Shuttering area
Rules &amp; calculations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290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OUTPUT</a:t>
            </a:r>
          </a:p>
          <a:p>
            <a:r>
              <a:rPr sz="1150">
                <a:solidFill>
                  <a:srgbClr val="595959"/>
                </a:solidFill>
              </a:rPr>
              <a:t>Excel quantity report
Review sheet
Flagged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595959"/>
                </a:solidFill>
              </a:defRPr>
            </a:pPr>
            <a:r>
              <a:t>• Standard drawings can be processed deterministically.</a:t>
            </a:r>
          </a:p>
          <a:p>
            <a:pPr>
              <a:spcAft>
                <a:spcPts val="900"/>
              </a:spcAft>
              <a:defRPr sz="1600">
                <a:solidFill>
                  <a:srgbClr val="595959"/>
                </a:solidFill>
              </a:defRPr>
            </a:pPr>
            <a:r>
              <a:t>• LLM assistance is used only when information such as slab thickness, tags, beam dimensions or bounded regions is missing/ambiguous.</a:t>
            </a:r>
          </a:p>
          <a:p>
            <a:pPr>
              <a:spcAft>
                <a:spcPts val="900"/>
              </a:spcAft>
              <a:defRPr sz="1600">
                <a:solidFill>
                  <a:srgbClr val="595959"/>
                </a:solidFill>
              </a:defRPr>
            </a:pPr>
            <a:r>
              <a:t>• Estimation Team validation demonstrated meaningful productivity improvement, while accuracy still requires further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t>6. Concrete POC — Estimation Team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584" y="3200400"/>
            <a:ext cx="3566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Slab Concrete</a:t>
            </a:r>
          </a:p>
          <a:p>
            <a:pPr algn="ctr"/>
            <a:r>
              <a:rPr lang="en-US" sz="1400" b="1" dirty="0">
                <a:solidFill>
                  <a:srgbClr val="595959"/>
                </a:solidFill>
              </a:rPr>
              <a:t>Accuracy - </a:t>
            </a:r>
            <a:r>
              <a:rPr sz="1400" b="1" dirty="0">
                <a:solidFill>
                  <a:srgbClr val="595959"/>
                </a:solidFill>
              </a:rPr>
              <a:t>69%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0784" y="3200400"/>
            <a:ext cx="3566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Slab Shuttering</a:t>
            </a:r>
          </a:p>
          <a:p>
            <a:pPr algn="ctr"/>
            <a:r>
              <a:rPr lang="en-US" sz="1400" b="1" dirty="0">
                <a:solidFill>
                  <a:srgbClr val="595959"/>
                </a:solidFill>
              </a:rPr>
              <a:t>Accuracy - </a:t>
            </a:r>
            <a:r>
              <a:rPr sz="1400" b="1" dirty="0">
                <a:solidFill>
                  <a:srgbClr val="595959"/>
                </a:solidFill>
              </a:rPr>
              <a:t>73%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584" y="1325880"/>
            <a:ext cx="3566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Beam Concrete</a:t>
            </a:r>
          </a:p>
          <a:p>
            <a:pPr algn="ctr"/>
            <a:r>
              <a:rPr lang="en-US" sz="1400" b="1" dirty="0">
                <a:solidFill>
                  <a:srgbClr val="595959"/>
                </a:solidFill>
              </a:rPr>
              <a:t>Accuracy - </a:t>
            </a:r>
            <a:r>
              <a:rPr sz="1400" b="1" dirty="0">
                <a:solidFill>
                  <a:srgbClr val="595959"/>
                </a:solidFill>
              </a:rPr>
              <a:t>78%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39596"/>
            <a:ext cx="3566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Beam Shuttering</a:t>
            </a:r>
          </a:p>
          <a:p>
            <a:pPr algn="ctr"/>
            <a:r>
              <a:rPr lang="en-US" sz="1400" b="1" dirty="0">
                <a:solidFill>
                  <a:srgbClr val="595959"/>
                </a:solidFill>
              </a:rPr>
              <a:t>Accuracy - </a:t>
            </a:r>
            <a:r>
              <a:rPr sz="1400" b="1" dirty="0">
                <a:solidFill>
                  <a:srgbClr val="595959"/>
                </a:solidFill>
              </a:rPr>
              <a:t>81%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9914" y="3200400"/>
            <a:ext cx="3566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Slab Productivity</a:t>
            </a:r>
          </a:p>
          <a:p>
            <a:pPr algn="ctr"/>
            <a:r>
              <a:rPr lang="en-US" sz="1400" b="1" dirty="0">
                <a:solidFill>
                  <a:srgbClr val="595959"/>
                </a:solidFill>
              </a:rPr>
              <a:t>Time Saving - </a:t>
            </a:r>
            <a:r>
              <a:rPr sz="1400" b="1" dirty="0">
                <a:solidFill>
                  <a:srgbClr val="595959"/>
                </a:solidFill>
              </a:rPr>
              <a:t>29% 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9914" y="1339596"/>
            <a:ext cx="3566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Beam Productivity</a:t>
            </a:r>
          </a:p>
          <a:p>
            <a:pPr algn="ctr"/>
            <a:r>
              <a:rPr lang="en-US" sz="1400" b="1" dirty="0">
                <a:solidFill>
                  <a:srgbClr val="595959"/>
                </a:solidFill>
              </a:rPr>
              <a:t>Time Saving - </a:t>
            </a:r>
            <a:r>
              <a:rPr sz="1400" b="1" dirty="0">
                <a:solidFill>
                  <a:srgbClr val="595959"/>
                </a:solidFill>
              </a:rPr>
              <a:t>67%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Key conclusion: automation reduces processing effort, but current quantities still require manual verification and correction.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Steel Beam Estimation — Hybrid AI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20440" cy="2834640"/>
          </a:xfrm>
          <a:prstGeom prst="roundRect">
            <a:avLst/>
          </a:prstGeom>
          <a:solidFill>
            <a:srgbClr val="28466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DETERMINISTIC CAD / ENGINEERING</a:t>
            </a:r>
          </a:p>
          <a:p>
            <a:r>
              <a:rPr sz="1150">
                <a:solidFill>
                  <a:srgbClr val="DCE6F0"/>
                </a:solidFill>
              </a:rPr>
              <a:t>Geometry • beam model • spans • dimensions • cover • engineering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520440" cy="2834640"/>
          </a:xfrm>
          <a:prstGeom prst="roundRect">
            <a:avLst/>
          </a:prstGeom>
          <a:solidFill>
            <a:srgbClr val="28466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AI VISION</a:t>
            </a:r>
          </a:p>
          <a:p>
            <a:r>
              <a:rPr sz="1150">
                <a:solidFill>
                  <a:srgbClr val="DCE6F0"/>
                </a:solidFill>
              </a:rPr>
              <a:t>Reinforcement groups • bar count • diameter • MAIN/EXTRA • support scope • visual stirrups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371600"/>
            <a:ext cx="3520440" cy="2834640"/>
          </a:xfrm>
          <a:prstGeom prst="roundRect">
            <a:avLst/>
          </a:prstGeom>
          <a:solidFill>
            <a:srgbClr val="28466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HYBRID RESOLUTION</a:t>
            </a:r>
          </a:p>
          <a:p>
            <a:r>
              <a:rPr sz="1150">
                <a:solidFill>
                  <a:srgbClr val="DCE6F0"/>
                </a:solidFill>
              </a:rPr>
              <a:t>Combine semantic interpretation with deterministic facts and estimator/project rules before quantity computation.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VISION: “What reinforcement exists?”   →   HYBRID RESOLUTION   →   ENGINEERING: “How is it quantified?”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t>8. Steel Beam Model — Engineering Intelligence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5661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Drawing Architecture</a:t>
            </a:r>
          </a:p>
          <a:p>
            <a:r>
              <a:rPr sz="1150">
                <a:solidFill>
                  <a:srgbClr val="595959"/>
                </a:solidFill>
              </a:rPr>
              <a:t>Identity • sets • beam index • versioning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5661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Geometry Intelligence</a:t>
            </a:r>
          </a:p>
          <a:p>
            <a:r>
              <a:rPr sz="1150">
                <a:solidFill>
                  <a:srgbClr val="595959"/>
                </a:solidFill>
              </a:rPr>
              <a:t>Regions • sketches • text • leaders •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80160"/>
            <a:ext cx="35661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Detail &amp; Match</a:t>
            </a:r>
          </a:p>
          <a:p>
            <a:r>
              <a:rPr sz="1150">
                <a:solidFill>
                  <a:srgbClr val="595959"/>
                </a:solidFill>
              </a:rPr>
              <a:t>Multi-view recognition • context • candidate ranking •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35661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Ownership</a:t>
            </a:r>
          </a:p>
          <a:p>
            <a:r>
              <a:rPr sz="1150">
                <a:solidFill>
                  <a:srgbClr val="595959"/>
                </a:solidFill>
              </a:rPr>
              <a:t>Text / leader / bar / stirrup / shared 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46120"/>
            <a:ext cx="35661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Reinforcement Parsing</a:t>
            </a:r>
          </a:p>
          <a:p>
            <a:r>
              <a:rPr sz="1150">
                <a:solidFill>
                  <a:srgbClr val="595959"/>
                </a:solidFill>
              </a:rPr>
              <a:t>Longitudinal bars • stirrups • side-face • laps • hooks • curtailment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246120"/>
            <a:ext cx="35661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Quantity &amp; Output</a:t>
            </a:r>
          </a:p>
          <a:p>
            <a:r>
              <a:rPr sz="1150">
                <a:solidFill>
                  <a:srgbClr val="595959"/>
                </a:solidFill>
              </a:rPr>
              <a:t>Cut lengths • unit weights • steel quantity • BBS •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D"/>
                </a:solidFill>
              </a:defRPr>
            </a:pPr>
            <a:r>
              <a:t>12. End-to-End Estimation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1. Upload drawing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2. Understand drawing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3. Extract geometry &amp;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14884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4. Identify components / material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5. Route to estimation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10896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6. AI / Vision where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7. Hybrid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6908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8. Deterministic quantity calculation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9. Validation &amp;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029200"/>
            <a:ext cx="53035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09728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10. BOQ / BBS /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795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 Bilimagga Hanumantha</dc:creator>
  <cp:keywords/>
  <dc:description>generated using python-pptx</dc:description>
  <cp:lastModifiedBy>Nishanth Bilimagga Hanumantha</cp:lastModifiedBy>
  <cp:revision>11</cp:revision>
  <dcterms:created xsi:type="dcterms:W3CDTF">2013-01-27T09:14:16Z</dcterms:created>
  <dcterms:modified xsi:type="dcterms:W3CDTF">2026-09-01T07:09:28Z</dcterms:modified>
  <cp:category/>
</cp:coreProperties>
</file>